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10"/>
  </p:normalViewPr>
  <p:slideViewPr>
    <p:cSldViewPr snapToGrid="0" snapToObjects="1">
      <p:cViewPr varScale="1">
        <p:scale>
          <a:sx n="109" d="100"/>
          <a:sy n="109" d="100"/>
        </p:scale>
        <p:origin x="73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936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77B70-8D91-FA55-9488-47A446098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8C852-DD32-30EB-EC48-02F4B349D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71EC80-47A3-4AAE-0FF3-7219C228E2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CE493B-F3EF-EDFA-FFE6-FF9EEE2DA9C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56365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FA6"/>
          </a:solidFill>
          <a:ln/>
        </p:spPr>
      </p:sp>
      <p:sp>
        <p:nvSpPr>
          <p:cNvPr id="3" name="Shape 1"/>
          <p:cNvSpPr/>
          <p:nvPr/>
        </p:nvSpPr>
        <p:spPr>
          <a:xfrm>
            <a:off x="164592" y="0"/>
            <a:ext cx="8979408" cy="73152"/>
          </a:xfrm>
          <a:prstGeom prst="rect">
            <a:avLst/>
          </a:prstGeom>
          <a:solidFill>
            <a:srgbClr val="00BFA6"/>
          </a:solidFill>
          <a:ln/>
        </p:spPr>
      </p:sp>
      <p:sp>
        <p:nvSpPr>
          <p:cNvPr id="4" name="Shape 2"/>
          <p:cNvSpPr/>
          <p:nvPr/>
        </p:nvSpPr>
        <p:spPr>
          <a:xfrm>
            <a:off x="7132320" y="640080"/>
            <a:ext cx="1645920" cy="1645920"/>
          </a:xfrm>
          <a:prstGeom prst="ellipse">
            <a:avLst/>
          </a:prstGeom>
          <a:solidFill>
            <a:srgbClr val="00BFA6">
              <a:alpha val="20000"/>
            </a:srgbClr>
          </a:solidFill>
          <a:ln w="25400">
            <a:solidFill>
              <a:srgbClr val="00BFA6"/>
            </a:solidFill>
            <a:prstDash val="solid"/>
          </a:ln>
        </p:spPr>
      </p:sp>
      <p:sp>
        <p:nvSpPr>
          <p:cNvPr id="5" name="Shape 3"/>
          <p:cNvSpPr/>
          <p:nvPr/>
        </p:nvSpPr>
        <p:spPr>
          <a:xfrm>
            <a:off x="7315200" y="822960"/>
            <a:ext cx="1280160" cy="1280160"/>
          </a:xfrm>
          <a:prstGeom prst="ellipse">
            <a:avLst/>
          </a:prstGeom>
          <a:solidFill>
            <a:srgbClr val="00BFA6">
              <a:alpha val="40000"/>
            </a:srgbClr>
          </a:solidFill>
          <a:ln w="12700">
            <a:solidFill>
              <a:srgbClr val="00BFA6"/>
            </a:solidFill>
            <a:prstDash val="solid"/>
          </a:ln>
        </p:spPr>
      </p:sp>
      <p:sp>
        <p:nvSpPr>
          <p:cNvPr id="6" name="Text 4"/>
          <p:cNvSpPr/>
          <p:nvPr/>
        </p:nvSpPr>
        <p:spPr>
          <a:xfrm>
            <a:off x="457200" y="457200"/>
            <a:ext cx="6400800" cy="411480"/>
          </a:xfrm>
          <a:prstGeom prst="rect">
            <a:avLst/>
          </a:prstGeom>
          <a:noFill/>
          <a:ln/>
        </p:spPr>
        <p:txBody>
          <a:bodyPr wrap="square" lIns="0" tIns="0" rIns="0" bIns="0" rtlCol="0" anchor="ctr"/>
          <a:lstStyle/>
          <a:p>
            <a:pPr marL="0" indent="0">
              <a:buNone/>
            </a:pPr>
            <a:r>
              <a:rPr lang="en-US" sz="1100" b="1" kern="0" spc="400" dirty="0">
                <a:solidFill>
                  <a:srgbClr val="00BFA6"/>
                </a:solidFill>
              </a:rPr>
              <a:t>MINI PROJECT REPORT</a:t>
            </a:r>
            <a:endParaRPr lang="en-US" sz="1100" dirty="0"/>
          </a:p>
        </p:txBody>
      </p:sp>
      <p:sp>
        <p:nvSpPr>
          <p:cNvPr id="7" name="Text 5"/>
          <p:cNvSpPr/>
          <p:nvPr/>
        </p:nvSpPr>
        <p:spPr>
          <a:xfrm>
            <a:off x="457200" y="1005840"/>
            <a:ext cx="7772400" cy="18288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Single Phase</a:t>
            </a:r>
            <a:endParaRPr lang="en-US" sz="4800" dirty="0"/>
          </a:p>
          <a:p>
            <a:pPr marL="0" indent="0">
              <a:buNone/>
            </a:pPr>
            <a:r>
              <a:rPr lang="en-US" sz="4800" b="1" dirty="0">
                <a:solidFill>
                  <a:srgbClr val="FFFFFF"/>
                </a:solidFill>
                <a:latin typeface="Calibri" pitchFamily="34" charset="0"/>
                <a:ea typeface="Calibri" pitchFamily="34" charset="-122"/>
                <a:cs typeface="Calibri" pitchFamily="34" charset="-120"/>
              </a:rPr>
              <a:t>Power Monitor</a:t>
            </a:r>
            <a:endParaRPr lang="en-US" sz="4800" dirty="0"/>
          </a:p>
        </p:txBody>
      </p:sp>
      <p:sp>
        <p:nvSpPr>
          <p:cNvPr id="8" name="Text 6"/>
          <p:cNvSpPr/>
          <p:nvPr/>
        </p:nvSpPr>
        <p:spPr>
          <a:xfrm>
            <a:off x="457200" y="2743200"/>
            <a:ext cx="7315200" cy="457200"/>
          </a:xfrm>
          <a:prstGeom prst="rect">
            <a:avLst/>
          </a:prstGeom>
          <a:noFill/>
          <a:ln/>
        </p:spPr>
        <p:txBody>
          <a:bodyPr wrap="square" lIns="0" tIns="0" rIns="0" bIns="0" rtlCol="0" anchor="ctr"/>
          <a:lstStyle/>
          <a:p>
            <a:pPr marL="0" indent="0">
              <a:buNone/>
            </a:pPr>
            <a:r>
              <a:rPr lang="en-US" sz="1600" i="1" dirty="0">
                <a:solidFill>
                  <a:srgbClr val="00E5CC"/>
                </a:solidFill>
              </a:rPr>
              <a:t>Real-Time Voltage, Current &amp; Power  Measurement</a:t>
            </a:r>
            <a:endParaRPr lang="en-US" sz="1600" dirty="0"/>
          </a:p>
        </p:txBody>
      </p:sp>
      <p:sp>
        <p:nvSpPr>
          <p:cNvPr id="9" name="Shape 7"/>
          <p:cNvSpPr/>
          <p:nvPr/>
        </p:nvSpPr>
        <p:spPr>
          <a:xfrm>
            <a:off x="457200" y="3291840"/>
            <a:ext cx="5029200" cy="36576"/>
          </a:xfrm>
          <a:prstGeom prst="rect">
            <a:avLst/>
          </a:prstGeom>
          <a:solidFill>
            <a:srgbClr val="00BFA6"/>
          </a:solidFill>
          <a:ln/>
        </p:spPr>
      </p:sp>
      <p:sp>
        <p:nvSpPr>
          <p:cNvPr id="10" name="Text 8"/>
          <p:cNvSpPr/>
          <p:nvPr/>
        </p:nvSpPr>
        <p:spPr>
          <a:xfrm>
            <a:off x="457200" y="3474720"/>
            <a:ext cx="8229600" cy="731520"/>
          </a:xfrm>
          <a:prstGeom prst="rect">
            <a:avLst/>
          </a:prstGeom>
          <a:noFill/>
          <a:ln/>
        </p:spPr>
        <p:txBody>
          <a:bodyPr wrap="square" lIns="0" tIns="0" rIns="0" bIns="0" rtlCol="0" anchor="ctr"/>
          <a:lstStyle/>
          <a:p>
            <a:pPr marL="0" indent="0">
              <a:buNone/>
            </a:pPr>
            <a:r>
              <a:rPr lang="en-US" sz="1200" dirty="0">
                <a:solidFill>
                  <a:srgbClr val="B0C4D8"/>
                </a:solidFill>
              </a:rPr>
              <a:t>Maharudra Patil  |  Parth Kulkarni  |  Sarvesh Malani</a:t>
            </a:r>
            <a:endParaRPr lang="en-US" sz="1200" dirty="0"/>
          </a:p>
          <a:p>
            <a:pPr marL="0" indent="0">
              <a:buNone/>
            </a:pPr>
            <a:r>
              <a:rPr lang="en-US" sz="1200" dirty="0">
                <a:solidFill>
                  <a:srgbClr val="B0C4D8"/>
                </a:solidFill>
              </a:rPr>
              <a:t>Dept. of Electronics Engineering, Walchand Institute of Technology, Solapur  |  2025-26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Shape 1"/>
          <p:cNvSpPr/>
          <p:nvPr/>
        </p:nvSpPr>
        <p:spPr>
          <a:xfrm>
            <a:off x="0" y="914400"/>
            <a:ext cx="9144000" cy="54864"/>
          </a:xfrm>
          <a:prstGeom prst="rect">
            <a:avLst/>
          </a:prstGeom>
          <a:solidFill>
            <a:srgbClr val="00BFA6"/>
          </a:solidFill>
          <a:ln/>
        </p:spPr>
      </p:sp>
      <p:sp>
        <p:nvSpPr>
          <p:cNvPr id="4" name="Text 2"/>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Problem Statement &amp; Objectives</a:t>
            </a:r>
            <a:endParaRPr lang="en-US" sz="2600" dirty="0"/>
          </a:p>
        </p:txBody>
      </p:sp>
      <p:sp>
        <p:nvSpPr>
          <p:cNvPr id="5" name="Shape 3"/>
          <p:cNvSpPr/>
          <p:nvPr/>
        </p:nvSpPr>
        <p:spPr>
          <a:xfrm>
            <a:off x="274320" y="1188720"/>
            <a:ext cx="4023360" cy="3566160"/>
          </a:xfrm>
          <a:prstGeom prst="rect">
            <a:avLst/>
          </a:prstGeom>
          <a:solidFill>
            <a:srgbClr val="FFFFFF"/>
          </a:solidFill>
          <a:ln/>
          <a:effectLst>
            <a:outerShdw blurRad="101600" dist="25400" dir="8100000" algn="bl" rotWithShape="0">
              <a:srgbClr val="000000">
                <a:alpha val="10000"/>
              </a:srgbClr>
            </a:outerShdw>
          </a:effectLst>
        </p:spPr>
      </p:sp>
      <p:sp>
        <p:nvSpPr>
          <p:cNvPr id="6" name="Shape 4"/>
          <p:cNvSpPr/>
          <p:nvPr/>
        </p:nvSpPr>
        <p:spPr>
          <a:xfrm>
            <a:off x="274320" y="1188720"/>
            <a:ext cx="4023360" cy="347472"/>
          </a:xfrm>
          <a:prstGeom prst="rect">
            <a:avLst/>
          </a:prstGeom>
          <a:solidFill>
            <a:srgbClr val="00BFA6"/>
          </a:solidFill>
          <a:ln/>
        </p:spPr>
      </p:sp>
      <p:sp>
        <p:nvSpPr>
          <p:cNvPr id="7" name="Text 5"/>
          <p:cNvSpPr/>
          <p:nvPr/>
        </p:nvSpPr>
        <p:spPr>
          <a:xfrm>
            <a:off x="365760" y="1225296"/>
            <a:ext cx="3840480" cy="274320"/>
          </a:xfrm>
          <a:prstGeom prst="rect">
            <a:avLst/>
          </a:prstGeom>
          <a:noFill/>
          <a:ln/>
        </p:spPr>
        <p:txBody>
          <a:bodyPr wrap="square" lIns="0" tIns="0" rIns="0" bIns="0" rtlCol="0" anchor="ctr"/>
          <a:lstStyle/>
          <a:p>
            <a:pPr marL="0" indent="0">
              <a:buNone/>
            </a:pPr>
            <a:r>
              <a:rPr lang="en-US" sz="1300" b="1" dirty="0">
                <a:solidFill>
                  <a:srgbClr val="FFFFFF"/>
                </a:solidFill>
              </a:rPr>
              <a:t>⚡ The Problem</a:t>
            </a:r>
            <a:endParaRPr lang="en-US" sz="1300" dirty="0"/>
          </a:p>
        </p:txBody>
      </p:sp>
      <p:sp>
        <p:nvSpPr>
          <p:cNvPr id="8" name="Text 6"/>
          <p:cNvSpPr/>
          <p:nvPr/>
        </p:nvSpPr>
        <p:spPr>
          <a:xfrm>
            <a:off x="411480" y="1627632"/>
            <a:ext cx="3749040" cy="3017520"/>
          </a:xfrm>
          <a:prstGeom prst="rect">
            <a:avLst/>
          </a:prstGeom>
          <a:noFill/>
          <a:ln/>
        </p:spPr>
        <p:txBody>
          <a:bodyPr wrap="square" rtlCol="0" anchor="ctr"/>
          <a:lstStyle/>
          <a:p>
            <a:pPr marL="342900" indent="-342900">
              <a:spcAft>
                <a:spcPts val="500"/>
              </a:spcAft>
              <a:buSzPct val="100000"/>
              <a:buChar char="•"/>
            </a:pPr>
            <a:r>
              <a:rPr lang="en-US" sz="1300" dirty="0">
                <a:solidFill>
                  <a:srgbClr val="1A2B3C"/>
                </a:solidFill>
              </a:rPr>
              <a:t>Traditional meters show only cumulative usage — no real-time insight.</a:t>
            </a:r>
            <a:endParaRPr lang="en-US" sz="1300" dirty="0"/>
          </a:p>
          <a:p>
            <a:pPr marL="342900" indent="-342900">
              <a:spcAft>
                <a:spcPts val="500"/>
              </a:spcAft>
              <a:buSzPct val="100000"/>
              <a:buChar char="•"/>
            </a:pPr>
            <a:r>
              <a:rPr lang="en-US" sz="1300" dirty="0">
                <a:solidFill>
                  <a:srgbClr val="1A2B3C"/>
                </a:solidFill>
              </a:rPr>
              <a:t>Voltage fluctuations damage sensitive equipment.</a:t>
            </a:r>
            <a:endParaRPr lang="en-US" sz="1300" dirty="0"/>
          </a:p>
          <a:p>
            <a:pPr marL="342900" indent="-342900">
              <a:spcAft>
                <a:spcPts val="500"/>
              </a:spcAft>
              <a:buSzPct val="100000"/>
              <a:buChar char="•"/>
            </a:pPr>
            <a:r>
              <a:rPr lang="en-US" sz="1300" dirty="0">
                <a:solidFill>
                  <a:srgbClr val="1A2B3C"/>
                </a:solidFill>
              </a:rPr>
              <a:t>Undetected current surges cause overloading hazards.</a:t>
            </a:r>
            <a:endParaRPr lang="en-US" sz="1300" dirty="0"/>
          </a:p>
          <a:p>
            <a:pPr marL="342900" indent="-342900">
              <a:spcAft>
                <a:spcPts val="500"/>
              </a:spcAft>
              <a:buSzPct val="100000"/>
              <a:buChar char="•"/>
            </a:pPr>
            <a:r>
              <a:rPr lang="en-US" sz="1300" dirty="0">
                <a:solidFill>
                  <a:srgbClr val="1A2B3C"/>
                </a:solidFill>
              </a:rPr>
              <a:t>Affordable real-time monitoring tools are unavailable for small users.</a:t>
            </a:r>
            <a:endParaRPr lang="en-US" sz="1300" dirty="0"/>
          </a:p>
          <a:p>
            <a:pPr marL="342900" indent="-342900">
              <a:spcAft>
                <a:spcPts val="500"/>
              </a:spcAft>
              <a:buSzPct val="100000"/>
              <a:buChar char="•"/>
            </a:pPr>
            <a:r>
              <a:rPr lang="en-US" sz="1300" dirty="0">
                <a:solidFill>
                  <a:srgbClr val="1A2B3C"/>
                </a:solidFill>
              </a:rPr>
              <a:t>Increased electricity bills from unmonitored consumption.</a:t>
            </a:r>
            <a:endParaRPr lang="en-US" sz="1300" dirty="0"/>
          </a:p>
        </p:txBody>
      </p:sp>
      <p:sp>
        <p:nvSpPr>
          <p:cNvPr id="9" name="Shape 7"/>
          <p:cNvSpPr/>
          <p:nvPr/>
        </p:nvSpPr>
        <p:spPr>
          <a:xfrm>
            <a:off x="4572000" y="1188720"/>
            <a:ext cx="4297680" cy="3566160"/>
          </a:xfrm>
          <a:prstGeom prst="rect">
            <a:avLst/>
          </a:prstGeom>
          <a:solidFill>
            <a:srgbClr val="FFFFFF"/>
          </a:solidFill>
          <a:ln/>
          <a:effectLst>
            <a:outerShdw blurRad="101600" dist="25400" dir="8100000" algn="bl" rotWithShape="0">
              <a:srgbClr val="000000">
                <a:alpha val="10000"/>
              </a:srgbClr>
            </a:outerShdw>
          </a:effectLst>
        </p:spPr>
      </p:sp>
      <p:sp>
        <p:nvSpPr>
          <p:cNvPr id="10" name="Shape 8"/>
          <p:cNvSpPr/>
          <p:nvPr/>
        </p:nvSpPr>
        <p:spPr>
          <a:xfrm>
            <a:off x="4572000" y="1188720"/>
            <a:ext cx="4297680" cy="347472"/>
          </a:xfrm>
          <a:prstGeom prst="rect">
            <a:avLst/>
          </a:prstGeom>
          <a:solidFill>
            <a:srgbClr val="0A1628"/>
          </a:solidFill>
          <a:ln/>
        </p:spPr>
      </p:sp>
      <p:sp>
        <p:nvSpPr>
          <p:cNvPr id="11" name="Text 9"/>
          <p:cNvSpPr/>
          <p:nvPr/>
        </p:nvSpPr>
        <p:spPr>
          <a:xfrm>
            <a:off x="4663440" y="1225296"/>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 Objectives</a:t>
            </a:r>
            <a:endParaRPr lang="en-US" sz="1300" dirty="0"/>
          </a:p>
        </p:txBody>
      </p:sp>
      <p:sp>
        <p:nvSpPr>
          <p:cNvPr id="12" name="Text 10"/>
          <p:cNvSpPr/>
          <p:nvPr/>
        </p:nvSpPr>
        <p:spPr>
          <a:xfrm>
            <a:off x="4663440" y="1627632"/>
            <a:ext cx="4023360" cy="2290572"/>
          </a:xfrm>
          <a:prstGeom prst="rect">
            <a:avLst/>
          </a:prstGeom>
          <a:noFill/>
          <a:ln/>
        </p:spPr>
        <p:txBody>
          <a:bodyPr wrap="square" rtlCol="0" anchor="ctr"/>
          <a:lstStyle/>
          <a:p>
            <a:pPr marL="342900" indent="-342900">
              <a:spcAft>
                <a:spcPts val="500"/>
              </a:spcAft>
              <a:buSzPct val="100000"/>
              <a:buChar char="•"/>
            </a:pPr>
            <a:r>
              <a:rPr lang="en-US" sz="1300" dirty="0">
                <a:solidFill>
                  <a:srgbClr val="1A2B3C"/>
                </a:solidFill>
              </a:rPr>
              <a:t>Measure RMS voltage and current in real time.</a:t>
            </a:r>
            <a:endParaRPr lang="en-US" sz="1300" dirty="0"/>
          </a:p>
          <a:p>
            <a:pPr marL="342900" indent="-342900">
              <a:spcAft>
                <a:spcPts val="500"/>
              </a:spcAft>
              <a:buSzPct val="100000"/>
              <a:buChar char="•"/>
            </a:pPr>
            <a:r>
              <a:rPr lang="en-US" sz="1300" dirty="0">
                <a:solidFill>
                  <a:srgbClr val="1A2B3C"/>
                </a:solidFill>
              </a:rPr>
              <a:t>Calculate instantaneous active power (P = V × I).</a:t>
            </a:r>
            <a:endParaRPr lang="en-US" sz="1300" dirty="0"/>
          </a:p>
          <a:p>
            <a:pPr marL="342900" indent="-342900">
              <a:spcAft>
                <a:spcPts val="500"/>
              </a:spcAft>
              <a:buSzPct val="100000"/>
              <a:buChar char="•"/>
            </a:pPr>
            <a:r>
              <a:rPr lang="en-US" sz="1300" dirty="0">
                <a:solidFill>
                  <a:srgbClr val="1A2B3C"/>
                </a:solidFill>
              </a:rPr>
              <a:t>Track cumulative energy consumption (Wh).</a:t>
            </a:r>
            <a:endParaRPr lang="en-US" sz="1300" dirty="0"/>
          </a:p>
          <a:p>
            <a:pPr marL="342900" indent="-342900">
              <a:spcAft>
                <a:spcPts val="500"/>
              </a:spcAft>
              <a:buSzPct val="100000"/>
              <a:buChar char="•"/>
            </a:pPr>
            <a:r>
              <a:rPr lang="en-US" sz="1300" dirty="0">
                <a:solidFill>
                  <a:srgbClr val="1A2B3C"/>
                </a:solidFill>
              </a:rPr>
              <a:t>Display parameters live on OLED display.</a:t>
            </a:r>
            <a:endParaRPr lang="en-US" sz="1300" dirty="0"/>
          </a:p>
          <a:p>
            <a:pPr marL="342900" indent="-342900">
              <a:spcAft>
                <a:spcPts val="500"/>
              </a:spcAft>
              <a:buSzPct val="100000"/>
              <a:buChar char="•"/>
            </a:pPr>
            <a:r>
              <a:rPr lang="en-US" sz="1300" dirty="0">
                <a:solidFill>
                  <a:srgbClr val="1A2B3C"/>
                </a:solidFill>
              </a:rPr>
              <a:t>Build a low-cost (&lt;₹700), portable, compact solution.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Shape 1"/>
          <p:cNvSpPr/>
          <p:nvPr/>
        </p:nvSpPr>
        <p:spPr>
          <a:xfrm>
            <a:off x="0" y="914400"/>
            <a:ext cx="9144000" cy="54864"/>
          </a:xfrm>
          <a:prstGeom prst="rect">
            <a:avLst/>
          </a:prstGeom>
          <a:solidFill>
            <a:srgbClr val="00BFA6"/>
          </a:solidFill>
          <a:ln/>
        </p:spPr>
      </p:sp>
      <p:sp>
        <p:nvSpPr>
          <p:cNvPr id="4" name="Text 2"/>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System Block Diagram</a:t>
            </a:r>
            <a:endParaRPr lang="en-US" sz="2600" dirty="0"/>
          </a:p>
        </p:txBody>
      </p:sp>
      <p:sp>
        <p:nvSpPr>
          <p:cNvPr id="5" name="Shape 3"/>
          <p:cNvSpPr/>
          <p:nvPr/>
        </p:nvSpPr>
        <p:spPr>
          <a:xfrm>
            <a:off x="182880" y="1920240"/>
            <a:ext cx="1371600" cy="914400"/>
          </a:xfrm>
          <a:prstGeom prst="rect">
            <a:avLst/>
          </a:prstGeom>
          <a:solidFill>
            <a:srgbClr val="0A1628"/>
          </a:solidFill>
          <a:ln/>
          <a:effectLst>
            <a:outerShdw blurRad="76200" dist="25400" dir="8100000" algn="bl" rotWithShape="0">
              <a:srgbClr val="000000">
                <a:alpha val="12000"/>
              </a:srgbClr>
            </a:outerShdw>
          </a:effectLst>
        </p:spPr>
      </p:sp>
      <p:sp>
        <p:nvSpPr>
          <p:cNvPr id="6" name="Text 4"/>
          <p:cNvSpPr/>
          <p:nvPr/>
        </p:nvSpPr>
        <p:spPr>
          <a:xfrm>
            <a:off x="182880" y="1920240"/>
            <a:ext cx="1371600" cy="914400"/>
          </a:xfrm>
          <a:prstGeom prst="rect">
            <a:avLst/>
          </a:prstGeom>
          <a:noFill/>
          <a:ln/>
        </p:spPr>
        <p:txBody>
          <a:bodyPr wrap="square" lIns="0" tIns="0" rIns="0" bIns="0" rtlCol="0" anchor="ctr"/>
          <a:lstStyle/>
          <a:p>
            <a:pPr marL="0" indent="0" algn="ctr">
              <a:buNone/>
            </a:pPr>
            <a:r>
              <a:rPr lang="en-US" sz="1100" b="1" dirty="0">
                <a:solidFill>
                  <a:srgbClr val="FFFFFF"/>
                </a:solidFill>
              </a:rPr>
              <a:t>AC Supply</a:t>
            </a:r>
            <a:endParaRPr lang="en-US" sz="1100" dirty="0"/>
          </a:p>
          <a:p>
            <a:pPr marL="0" indent="0" algn="ctr">
              <a:buNone/>
            </a:pPr>
            <a:r>
              <a:rPr lang="en-US" sz="1100" b="1" dirty="0">
                <a:solidFill>
                  <a:srgbClr val="FFFFFF"/>
                </a:solidFill>
              </a:rPr>
              <a:t>230V / 50Hz</a:t>
            </a:r>
            <a:endParaRPr lang="en-US" sz="1100" dirty="0"/>
          </a:p>
        </p:txBody>
      </p:sp>
      <p:sp>
        <p:nvSpPr>
          <p:cNvPr id="7" name="Shape 5"/>
          <p:cNvSpPr/>
          <p:nvPr/>
        </p:nvSpPr>
        <p:spPr>
          <a:xfrm>
            <a:off x="1554480" y="2377440"/>
            <a:ext cx="457200" cy="0"/>
          </a:xfrm>
          <a:prstGeom prst="line">
            <a:avLst/>
          </a:prstGeom>
          <a:noFill/>
          <a:ln w="31750">
            <a:solidFill>
              <a:srgbClr val="00BFA6"/>
            </a:solidFill>
            <a:prstDash val="solid"/>
          </a:ln>
        </p:spPr>
      </p:sp>
      <p:sp>
        <p:nvSpPr>
          <p:cNvPr id="8" name="Shape 6"/>
          <p:cNvSpPr/>
          <p:nvPr/>
        </p:nvSpPr>
        <p:spPr>
          <a:xfrm>
            <a:off x="2011680" y="1417320"/>
            <a:ext cx="1645920" cy="822960"/>
          </a:xfrm>
          <a:prstGeom prst="rect">
            <a:avLst/>
          </a:prstGeom>
          <a:solidFill>
            <a:srgbClr val="065A82"/>
          </a:solidFill>
          <a:ln/>
          <a:effectLst>
            <a:outerShdw blurRad="76200" dist="25400" dir="8100000" algn="bl" rotWithShape="0">
              <a:srgbClr val="000000">
                <a:alpha val="12000"/>
              </a:srgbClr>
            </a:outerShdw>
          </a:effectLst>
        </p:spPr>
      </p:sp>
      <p:sp>
        <p:nvSpPr>
          <p:cNvPr id="9" name="Text 7"/>
          <p:cNvSpPr/>
          <p:nvPr/>
        </p:nvSpPr>
        <p:spPr>
          <a:xfrm>
            <a:off x="2011680" y="1417320"/>
            <a:ext cx="1645920" cy="822960"/>
          </a:xfrm>
          <a:prstGeom prst="rect">
            <a:avLst/>
          </a:prstGeom>
          <a:noFill/>
          <a:ln/>
        </p:spPr>
        <p:txBody>
          <a:bodyPr wrap="square" lIns="0" tIns="0" rIns="0" bIns="0" rtlCol="0" anchor="ctr"/>
          <a:lstStyle/>
          <a:p>
            <a:pPr marL="0" indent="0" algn="ctr">
              <a:buNone/>
            </a:pPr>
            <a:r>
              <a:rPr lang="en-US" sz="1050" b="1" dirty="0">
                <a:solidFill>
                  <a:srgbClr val="FFFFFF"/>
                </a:solidFill>
              </a:rPr>
              <a:t>ZMPT101B</a:t>
            </a:r>
            <a:endParaRPr lang="en-US" sz="1050" dirty="0"/>
          </a:p>
          <a:p>
            <a:pPr marL="0" indent="0" algn="ctr">
              <a:buNone/>
            </a:pPr>
            <a:r>
              <a:rPr lang="en-US" sz="1050" b="1" dirty="0">
                <a:solidFill>
                  <a:srgbClr val="FFFFFF"/>
                </a:solidFill>
              </a:rPr>
              <a:t>Voltage Sensor</a:t>
            </a:r>
            <a:endParaRPr lang="en-US" sz="1050" dirty="0"/>
          </a:p>
        </p:txBody>
      </p:sp>
      <p:sp>
        <p:nvSpPr>
          <p:cNvPr id="10" name="Shape 8"/>
          <p:cNvSpPr/>
          <p:nvPr/>
        </p:nvSpPr>
        <p:spPr>
          <a:xfrm>
            <a:off x="2011680" y="2468880"/>
            <a:ext cx="1645920" cy="822960"/>
          </a:xfrm>
          <a:prstGeom prst="rect">
            <a:avLst/>
          </a:prstGeom>
          <a:solidFill>
            <a:srgbClr val="065A82"/>
          </a:solidFill>
          <a:ln/>
          <a:effectLst>
            <a:outerShdw blurRad="76200" dist="25400" dir="8100000" algn="bl" rotWithShape="0">
              <a:srgbClr val="000000">
                <a:alpha val="12000"/>
              </a:srgbClr>
            </a:outerShdw>
          </a:effectLst>
        </p:spPr>
      </p:sp>
      <p:sp>
        <p:nvSpPr>
          <p:cNvPr id="11" name="Text 9"/>
          <p:cNvSpPr/>
          <p:nvPr/>
        </p:nvSpPr>
        <p:spPr>
          <a:xfrm>
            <a:off x="2011680" y="2468880"/>
            <a:ext cx="1645920" cy="822960"/>
          </a:xfrm>
          <a:prstGeom prst="rect">
            <a:avLst/>
          </a:prstGeom>
          <a:noFill/>
          <a:ln/>
        </p:spPr>
        <p:txBody>
          <a:bodyPr wrap="square" lIns="0" tIns="0" rIns="0" bIns="0" rtlCol="0" anchor="ctr"/>
          <a:lstStyle/>
          <a:p>
            <a:pPr marL="0" indent="0" algn="ctr">
              <a:buNone/>
            </a:pPr>
            <a:r>
              <a:rPr lang="en-US" sz="1050" b="1" dirty="0">
                <a:solidFill>
                  <a:srgbClr val="FFFFFF"/>
                </a:solidFill>
              </a:rPr>
              <a:t>ACS712</a:t>
            </a:r>
            <a:endParaRPr lang="en-US" sz="1050" dirty="0"/>
          </a:p>
          <a:p>
            <a:pPr marL="0" indent="0" algn="ctr">
              <a:buNone/>
            </a:pPr>
            <a:r>
              <a:rPr lang="en-US" sz="1050" b="1" dirty="0">
                <a:solidFill>
                  <a:srgbClr val="FFFFFF"/>
                </a:solidFill>
              </a:rPr>
              <a:t>Current Sensor</a:t>
            </a:r>
            <a:endParaRPr lang="en-US" sz="1050" dirty="0"/>
          </a:p>
        </p:txBody>
      </p:sp>
      <p:sp>
        <p:nvSpPr>
          <p:cNvPr id="12" name="Shape 10"/>
          <p:cNvSpPr/>
          <p:nvPr/>
        </p:nvSpPr>
        <p:spPr>
          <a:xfrm>
            <a:off x="1554480" y="1828800"/>
            <a:ext cx="457200" cy="0"/>
          </a:xfrm>
          <a:prstGeom prst="line">
            <a:avLst/>
          </a:prstGeom>
          <a:noFill/>
          <a:ln w="25400">
            <a:solidFill>
              <a:srgbClr val="00BFA6"/>
            </a:solidFill>
            <a:prstDash val="solid"/>
          </a:ln>
        </p:spPr>
      </p:sp>
      <p:sp>
        <p:nvSpPr>
          <p:cNvPr id="13" name="Shape 11"/>
          <p:cNvSpPr/>
          <p:nvPr/>
        </p:nvSpPr>
        <p:spPr>
          <a:xfrm>
            <a:off x="2011680" y="1828800"/>
            <a:ext cx="0" cy="502920"/>
          </a:xfrm>
          <a:prstGeom prst="line">
            <a:avLst/>
          </a:prstGeom>
          <a:noFill/>
          <a:ln w="25400">
            <a:solidFill>
              <a:srgbClr val="00BFA6"/>
            </a:solidFill>
            <a:prstDash val="solid"/>
          </a:ln>
        </p:spPr>
      </p:sp>
      <p:sp>
        <p:nvSpPr>
          <p:cNvPr id="14" name="Shape 12"/>
          <p:cNvSpPr/>
          <p:nvPr/>
        </p:nvSpPr>
        <p:spPr>
          <a:xfrm>
            <a:off x="1554480" y="2880360"/>
            <a:ext cx="457200" cy="0"/>
          </a:xfrm>
          <a:prstGeom prst="line">
            <a:avLst/>
          </a:prstGeom>
          <a:noFill/>
          <a:ln w="25400">
            <a:solidFill>
              <a:srgbClr val="00BFA6"/>
            </a:solidFill>
            <a:prstDash val="solid"/>
          </a:ln>
        </p:spPr>
      </p:sp>
      <p:sp>
        <p:nvSpPr>
          <p:cNvPr id="15" name="Shape 13"/>
          <p:cNvSpPr/>
          <p:nvPr/>
        </p:nvSpPr>
        <p:spPr>
          <a:xfrm>
            <a:off x="2011680" y="1828800"/>
            <a:ext cx="0" cy="1051560"/>
          </a:xfrm>
          <a:prstGeom prst="line">
            <a:avLst/>
          </a:prstGeom>
          <a:noFill/>
          <a:ln w="25400">
            <a:solidFill>
              <a:srgbClr val="00BFA6"/>
            </a:solidFill>
            <a:prstDash val="solid"/>
          </a:ln>
        </p:spPr>
      </p:sp>
      <p:sp>
        <p:nvSpPr>
          <p:cNvPr id="16" name="Shape 14"/>
          <p:cNvSpPr/>
          <p:nvPr/>
        </p:nvSpPr>
        <p:spPr>
          <a:xfrm>
            <a:off x="3657600" y="1828800"/>
            <a:ext cx="411480" cy="0"/>
          </a:xfrm>
          <a:prstGeom prst="line">
            <a:avLst/>
          </a:prstGeom>
          <a:noFill/>
          <a:ln w="25400">
            <a:solidFill>
              <a:srgbClr val="00BFA6"/>
            </a:solidFill>
            <a:prstDash val="solid"/>
          </a:ln>
        </p:spPr>
      </p:sp>
      <p:sp>
        <p:nvSpPr>
          <p:cNvPr id="17" name="Shape 15"/>
          <p:cNvSpPr/>
          <p:nvPr/>
        </p:nvSpPr>
        <p:spPr>
          <a:xfrm>
            <a:off x="3657600" y="2880360"/>
            <a:ext cx="411480" cy="0"/>
          </a:xfrm>
          <a:prstGeom prst="line">
            <a:avLst/>
          </a:prstGeom>
          <a:noFill/>
          <a:ln w="25400">
            <a:solidFill>
              <a:srgbClr val="00BFA6"/>
            </a:solidFill>
            <a:prstDash val="solid"/>
          </a:ln>
        </p:spPr>
      </p:sp>
      <p:sp>
        <p:nvSpPr>
          <p:cNvPr id="18" name="Shape 16"/>
          <p:cNvSpPr/>
          <p:nvPr/>
        </p:nvSpPr>
        <p:spPr>
          <a:xfrm>
            <a:off x="4069080" y="1828800"/>
            <a:ext cx="0" cy="1051560"/>
          </a:xfrm>
          <a:prstGeom prst="line">
            <a:avLst/>
          </a:prstGeom>
          <a:noFill/>
          <a:ln w="25400">
            <a:solidFill>
              <a:srgbClr val="00BFA6"/>
            </a:solidFill>
            <a:prstDash val="solid"/>
          </a:ln>
        </p:spPr>
      </p:sp>
      <p:sp>
        <p:nvSpPr>
          <p:cNvPr id="19" name="Shape 17"/>
          <p:cNvSpPr/>
          <p:nvPr/>
        </p:nvSpPr>
        <p:spPr>
          <a:xfrm>
            <a:off x="4069080" y="2377440"/>
            <a:ext cx="182880" cy="0"/>
          </a:xfrm>
          <a:prstGeom prst="line">
            <a:avLst/>
          </a:prstGeom>
          <a:noFill/>
          <a:ln w="25400">
            <a:solidFill>
              <a:srgbClr val="00BFA6"/>
            </a:solidFill>
            <a:prstDash val="solid"/>
          </a:ln>
        </p:spPr>
      </p:sp>
      <p:sp>
        <p:nvSpPr>
          <p:cNvPr id="20" name="Shape 18"/>
          <p:cNvSpPr/>
          <p:nvPr/>
        </p:nvSpPr>
        <p:spPr>
          <a:xfrm>
            <a:off x="4251960" y="1737360"/>
            <a:ext cx="1828800" cy="1280160"/>
          </a:xfrm>
          <a:prstGeom prst="rect">
            <a:avLst/>
          </a:prstGeom>
          <a:solidFill>
            <a:srgbClr val="00BFA6"/>
          </a:solidFill>
          <a:ln/>
          <a:effectLst>
            <a:outerShdw blurRad="76200" dist="25400" dir="8100000" algn="bl" rotWithShape="0">
              <a:srgbClr val="000000">
                <a:alpha val="12000"/>
              </a:srgbClr>
            </a:outerShdw>
          </a:effectLst>
        </p:spPr>
      </p:sp>
      <p:sp>
        <p:nvSpPr>
          <p:cNvPr id="21" name="Text 19"/>
          <p:cNvSpPr/>
          <p:nvPr/>
        </p:nvSpPr>
        <p:spPr>
          <a:xfrm>
            <a:off x="4251960" y="1737360"/>
            <a:ext cx="1828800" cy="1280160"/>
          </a:xfrm>
          <a:prstGeom prst="rect">
            <a:avLst/>
          </a:prstGeom>
          <a:noFill/>
          <a:ln/>
        </p:spPr>
        <p:txBody>
          <a:bodyPr wrap="square" lIns="0" tIns="0" rIns="0" bIns="0" rtlCol="0" anchor="ctr"/>
          <a:lstStyle/>
          <a:p>
            <a:pPr marL="0" indent="0" algn="ctr">
              <a:buNone/>
            </a:pPr>
            <a:r>
              <a:rPr lang="en-US" sz="1100" b="1" dirty="0">
                <a:solidFill>
                  <a:srgbClr val="0A1628"/>
                </a:solidFill>
              </a:rPr>
              <a:t>Arduino Nano</a:t>
            </a:r>
            <a:endParaRPr lang="en-US" sz="1100" dirty="0"/>
          </a:p>
          <a:p>
            <a:pPr marL="0" indent="0" algn="ctr">
              <a:buNone/>
            </a:pPr>
            <a:r>
              <a:rPr lang="en-US" sz="1100" b="1" dirty="0">
                <a:solidFill>
                  <a:srgbClr val="0A1628"/>
                </a:solidFill>
              </a:rPr>
              <a:t>(ATmega328P)</a:t>
            </a:r>
            <a:endParaRPr lang="en-US" sz="1100" dirty="0"/>
          </a:p>
          <a:p>
            <a:pPr marL="0" indent="0" algn="ctr">
              <a:buNone/>
            </a:pPr>
            <a:r>
              <a:rPr lang="en-US" sz="1100" b="1" dirty="0">
                <a:solidFill>
                  <a:srgbClr val="0A1628"/>
                </a:solidFill>
              </a:rPr>
              <a:t>ADC + Processing</a:t>
            </a:r>
            <a:endParaRPr lang="en-US" sz="1100" dirty="0"/>
          </a:p>
        </p:txBody>
      </p:sp>
      <p:sp>
        <p:nvSpPr>
          <p:cNvPr id="22" name="Shape 20"/>
          <p:cNvSpPr/>
          <p:nvPr/>
        </p:nvSpPr>
        <p:spPr>
          <a:xfrm>
            <a:off x="6080760" y="2377440"/>
            <a:ext cx="457200" cy="0"/>
          </a:xfrm>
          <a:prstGeom prst="line">
            <a:avLst/>
          </a:prstGeom>
          <a:noFill/>
          <a:ln w="31750">
            <a:solidFill>
              <a:srgbClr val="00BFA6"/>
            </a:solidFill>
            <a:prstDash val="solid"/>
          </a:ln>
        </p:spPr>
      </p:sp>
      <p:sp>
        <p:nvSpPr>
          <p:cNvPr id="23" name="Shape 21"/>
          <p:cNvSpPr/>
          <p:nvPr/>
        </p:nvSpPr>
        <p:spPr>
          <a:xfrm>
            <a:off x="6537960" y="1737360"/>
            <a:ext cx="1737360" cy="1280160"/>
          </a:xfrm>
          <a:prstGeom prst="rect">
            <a:avLst/>
          </a:prstGeom>
          <a:solidFill>
            <a:srgbClr val="FF6B35"/>
          </a:solidFill>
          <a:ln/>
          <a:effectLst>
            <a:outerShdw blurRad="76200" dist="25400" dir="8100000" algn="bl" rotWithShape="0">
              <a:srgbClr val="000000">
                <a:alpha val="12000"/>
              </a:srgbClr>
            </a:outerShdw>
          </a:effectLst>
        </p:spPr>
      </p:sp>
      <p:sp>
        <p:nvSpPr>
          <p:cNvPr id="24" name="Text 22"/>
          <p:cNvSpPr/>
          <p:nvPr/>
        </p:nvSpPr>
        <p:spPr>
          <a:xfrm>
            <a:off x="6537960" y="1737360"/>
            <a:ext cx="1737360" cy="1280160"/>
          </a:xfrm>
          <a:prstGeom prst="rect">
            <a:avLst/>
          </a:prstGeom>
          <a:noFill/>
          <a:ln/>
        </p:spPr>
        <p:txBody>
          <a:bodyPr wrap="square" lIns="0" tIns="0" rIns="0" bIns="0" rtlCol="0" anchor="ctr"/>
          <a:lstStyle/>
          <a:p>
            <a:pPr marL="0" indent="0" algn="ctr">
              <a:buNone/>
            </a:pPr>
            <a:r>
              <a:rPr lang="en-US" sz="1100" b="1" dirty="0">
                <a:solidFill>
                  <a:srgbClr val="FFFFFF"/>
                </a:solidFill>
              </a:rPr>
              <a:t>OLED Display</a:t>
            </a:r>
            <a:endParaRPr lang="en-US" sz="1100" dirty="0"/>
          </a:p>
          <a:p>
            <a:pPr marL="0" indent="0" algn="ctr">
              <a:buNone/>
            </a:pPr>
            <a:r>
              <a:rPr lang="en-US" sz="1100" b="1" dirty="0">
                <a:solidFill>
                  <a:srgbClr val="FFFFFF"/>
                </a:solidFill>
              </a:rPr>
              <a:t>(SSD1306)</a:t>
            </a:r>
            <a:endParaRPr lang="en-US" sz="1100" dirty="0"/>
          </a:p>
          <a:p>
            <a:pPr marL="0" indent="0" algn="ctr">
              <a:buNone/>
            </a:pPr>
            <a:r>
              <a:rPr lang="en-US" sz="1100" b="1" dirty="0">
                <a:solidFill>
                  <a:srgbClr val="FFFFFF"/>
                </a:solidFill>
              </a:rPr>
              <a:t>0.96" I2C</a:t>
            </a:r>
            <a:endParaRPr lang="en-US" sz="1100" dirty="0"/>
          </a:p>
        </p:txBody>
      </p:sp>
      <p:sp>
        <p:nvSpPr>
          <p:cNvPr id="25" name="Text 23"/>
          <p:cNvSpPr/>
          <p:nvPr/>
        </p:nvSpPr>
        <p:spPr>
          <a:xfrm>
            <a:off x="3886200" y="1691640"/>
            <a:ext cx="457200" cy="228600"/>
          </a:xfrm>
          <a:prstGeom prst="rect">
            <a:avLst/>
          </a:prstGeom>
          <a:noFill/>
          <a:ln/>
        </p:spPr>
        <p:txBody>
          <a:bodyPr wrap="square" lIns="0" tIns="0" rIns="0" bIns="0" rtlCol="0" anchor="ctr"/>
          <a:lstStyle/>
          <a:p>
            <a:pPr marL="0" indent="0" algn="ctr">
              <a:buNone/>
            </a:pPr>
            <a:r>
              <a:rPr lang="en-US" sz="900" dirty="0">
                <a:solidFill>
                  <a:srgbClr val="64748B"/>
                </a:solidFill>
              </a:rPr>
              <a:t>A0</a:t>
            </a:r>
            <a:endParaRPr lang="en-US" sz="900" dirty="0"/>
          </a:p>
        </p:txBody>
      </p:sp>
      <p:sp>
        <p:nvSpPr>
          <p:cNvPr id="26" name="Text 24"/>
          <p:cNvSpPr/>
          <p:nvPr/>
        </p:nvSpPr>
        <p:spPr>
          <a:xfrm>
            <a:off x="3886200" y="2788920"/>
            <a:ext cx="457200" cy="228600"/>
          </a:xfrm>
          <a:prstGeom prst="rect">
            <a:avLst/>
          </a:prstGeom>
          <a:noFill/>
          <a:ln/>
        </p:spPr>
        <p:txBody>
          <a:bodyPr wrap="square" lIns="0" tIns="0" rIns="0" bIns="0" rtlCol="0" anchor="ctr"/>
          <a:lstStyle/>
          <a:p>
            <a:pPr marL="0" indent="0" algn="ctr">
              <a:buNone/>
            </a:pPr>
            <a:r>
              <a:rPr lang="en-US" sz="900" dirty="0">
                <a:solidFill>
                  <a:srgbClr val="64748B"/>
                </a:solidFill>
              </a:rPr>
              <a:t>A1</a:t>
            </a:r>
            <a:endParaRPr lang="en-US" sz="900" dirty="0"/>
          </a:p>
        </p:txBody>
      </p:sp>
      <p:sp>
        <p:nvSpPr>
          <p:cNvPr id="27" name="Text 25"/>
          <p:cNvSpPr/>
          <p:nvPr/>
        </p:nvSpPr>
        <p:spPr>
          <a:xfrm>
            <a:off x="6080760" y="2148840"/>
            <a:ext cx="457200" cy="228600"/>
          </a:xfrm>
          <a:prstGeom prst="rect">
            <a:avLst/>
          </a:prstGeom>
          <a:noFill/>
          <a:ln/>
        </p:spPr>
        <p:txBody>
          <a:bodyPr wrap="square" lIns="0" tIns="0" rIns="0" bIns="0" rtlCol="0" anchor="ctr"/>
          <a:lstStyle/>
          <a:p>
            <a:pPr marL="0" indent="0" algn="ctr">
              <a:buNone/>
            </a:pPr>
            <a:r>
              <a:rPr lang="en-US" sz="900" dirty="0">
                <a:solidFill>
                  <a:srgbClr val="64748B"/>
                </a:solidFill>
              </a:rPr>
              <a:t>I2C</a:t>
            </a:r>
            <a:endParaRPr lang="en-US" sz="900" dirty="0"/>
          </a:p>
        </p:txBody>
      </p:sp>
      <p:sp>
        <p:nvSpPr>
          <p:cNvPr id="28" name="Text 26"/>
          <p:cNvSpPr/>
          <p:nvPr/>
        </p:nvSpPr>
        <p:spPr>
          <a:xfrm>
            <a:off x="274320" y="4389120"/>
            <a:ext cx="8595360" cy="365760"/>
          </a:xfrm>
          <a:prstGeom prst="rect">
            <a:avLst/>
          </a:prstGeom>
          <a:noFill/>
          <a:ln/>
        </p:spPr>
        <p:txBody>
          <a:bodyPr wrap="square" lIns="0" tIns="0" rIns="0" bIns="0" rtlCol="0" anchor="ctr"/>
          <a:lstStyle/>
          <a:p>
            <a:pPr marL="0" indent="0" algn="ctr">
              <a:buNone/>
            </a:pPr>
            <a:r>
              <a:rPr lang="en-US" sz="1100" i="1" dirty="0">
                <a:solidFill>
                  <a:srgbClr val="64748B"/>
                </a:solidFill>
              </a:rPr>
              <a:t>Signal flow: AC mains → Sensors (analog out) → Arduino ADC (A0/A1) → Computation → OLED via I²C bus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Shape 1"/>
          <p:cNvSpPr/>
          <p:nvPr/>
        </p:nvSpPr>
        <p:spPr>
          <a:xfrm>
            <a:off x="0" y="914400"/>
            <a:ext cx="9144000" cy="54864"/>
          </a:xfrm>
          <a:prstGeom prst="rect">
            <a:avLst/>
          </a:prstGeom>
          <a:solidFill>
            <a:srgbClr val="00BFA6"/>
          </a:solidFill>
          <a:ln/>
        </p:spPr>
      </p:sp>
      <p:sp>
        <p:nvSpPr>
          <p:cNvPr id="4" name="Text 2"/>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Key Components</a:t>
            </a:r>
            <a:endParaRPr lang="en-US" sz="2600" dirty="0"/>
          </a:p>
        </p:txBody>
      </p:sp>
      <p:sp>
        <p:nvSpPr>
          <p:cNvPr id="5" name="Shape 3"/>
          <p:cNvSpPr/>
          <p:nvPr/>
        </p:nvSpPr>
        <p:spPr>
          <a:xfrm>
            <a:off x="274320" y="1143001"/>
            <a:ext cx="1920240" cy="169164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274320" y="1143000"/>
            <a:ext cx="1920240" cy="960120"/>
          </a:xfrm>
          <a:prstGeom prst="rect">
            <a:avLst/>
          </a:prstGeom>
          <a:solidFill>
            <a:srgbClr val="0A1628"/>
          </a:solidFill>
          <a:ln/>
        </p:spPr>
      </p:sp>
      <p:sp>
        <p:nvSpPr>
          <p:cNvPr id="7" name="Text 5"/>
          <p:cNvSpPr/>
          <p:nvPr/>
        </p:nvSpPr>
        <p:spPr>
          <a:xfrm>
            <a:off x="274320" y="1161288"/>
            <a:ext cx="192024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274320" y="1664208"/>
            <a:ext cx="1920240" cy="256032"/>
          </a:xfrm>
          <a:prstGeom prst="rect">
            <a:avLst/>
          </a:prstGeom>
          <a:noFill/>
          <a:ln/>
        </p:spPr>
        <p:txBody>
          <a:bodyPr wrap="square" lIns="0" tIns="0" rIns="0" bIns="0" rtlCol="0" anchor="ctr"/>
          <a:lstStyle/>
          <a:p>
            <a:pPr marL="0" indent="0" algn="ctr">
              <a:buNone/>
            </a:pPr>
            <a:r>
              <a:rPr lang="en-US" sz="1100" b="1" dirty="0">
                <a:solidFill>
                  <a:srgbClr val="FFFFFF"/>
                </a:solidFill>
              </a:rPr>
              <a:t>ZMPT101B</a:t>
            </a:r>
            <a:endParaRPr lang="en-US" sz="1100" dirty="0"/>
          </a:p>
        </p:txBody>
      </p:sp>
      <p:sp>
        <p:nvSpPr>
          <p:cNvPr id="9" name="Text 7"/>
          <p:cNvSpPr/>
          <p:nvPr/>
        </p:nvSpPr>
        <p:spPr>
          <a:xfrm>
            <a:off x="274320" y="1920240"/>
            <a:ext cx="1920240" cy="182880"/>
          </a:xfrm>
          <a:prstGeom prst="rect">
            <a:avLst/>
          </a:prstGeom>
          <a:noFill/>
          <a:ln/>
        </p:spPr>
        <p:txBody>
          <a:bodyPr wrap="square" lIns="0" tIns="0" rIns="0" bIns="0" rtlCol="0" anchor="ctr"/>
          <a:lstStyle/>
          <a:p>
            <a:pPr marL="0" indent="0" algn="ctr">
              <a:buNone/>
            </a:pPr>
            <a:r>
              <a:rPr lang="en-US" sz="950" i="1" dirty="0">
                <a:solidFill>
                  <a:srgbClr val="D0EAF5"/>
                </a:solidFill>
              </a:rPr>
              <a:t>Voltage Sensor</a:t>
            </a:r>
            <a:endParaRPr lang="en-US" sz="950" dirty="0"/>
          </a:p>
        </p:txBody>
      </p:sp>
      <p:sp>
        <p:nvSpPr>
          <p:cNvPr id="10" name="Text 8"/>
          <p:cNvSpPr/>
          <p:nvPr/>
        </p:nvSpPr>
        <p:spPr>
          <a:xfrm>
            <a:off x="347472" y="2240280"/>
            <a:ext cx="1773936" cy="2377440"/>
          </a:xfrm>
          <a:prstGeom prst="rect">
            <a:avLst/>
          </a:prstGeom>
          <a:noFill/>
          <a:ln/>
        </p:spPr>
        <p:txBody>
          <a:bodyPr wrap="square" lIns="0" tIns="0" rIns="0" bIns="0" rtlCol="0" anchor="t"/>
          <a:lstStyle/>
          <a:p>
            <a:pPr marL="0" indent="0" algn="l">
              <a:buNone/>
            </a:pPr>
            <a:r>
              <a:rPr lang="en-US" sz="1150" dirty="0">
                <a:solidFill>
                  <a:srgbClr val="1A2B3C"/>
                </a:solidFill>
              </a:rPr>
              <a:t>Measures AC up to 250V</a:t>
            </a:r>
            <a:endParaRPr lang="en-US" sz="1150" dirty="0"/>
          </a:p>
          <a:p>
            <a:pPr marL="0" indent="0" algn="l">
              <a:buNone/>
            </a:pPr>
            <a:r>
              <a:rPr lang="en-US" sz="1150" dirty="0">
                <a:solidFill>
                  <a:srgbClr val="1A2B3C"/>
                </a:solidFill>
              </a:rPr>
              <a:t>Galvanic isolation</a:t>
            </a:r>
            <a:endParaRPr lang="en-US" sz="1150" dirty="0"/>
          </a:p>
          <a:p>
            <a:pPr marL="0" indent="0" algn="l">
              <a:buNone/>
            </a:pPr>
            <a:r>
              <a:rPr lang="en-US" sz="1150" dirty="0">
                <a:solidFill>
                  <a:srgbClr val="1A2B3C"/>
                </a:solidFill>
              </a:rPr>
              <a:t>0–5V output, 2.5V offset</a:t>
            </a:r>
            <a:endParaRPr lang="en-US" sz="1150" dirty="0"/>
          </a:p>
        </p:txBody>
      </p:sp>
      <p:sp>
        <p:nvSpPr>
          <p:cNvPr id="11" name="Shape 9"/>
          <p:cNvSpPr/>
          <p:nvPr/>
        </p:nvSpPr>
        <p:spPr>
          <a:xfrm>
            <a:off x="2450592" y="1143000"/>
            <a:ext cx="1920240" cy="1691641"/>
          </a:xfrm>
          <a:prstGeom prst="rect">
            <a:avLst/>
          </a:prstGeom>
          <a:solidFill>
            <a:srgbClr val="FFFFFF"/>
          </a:solidFill>
          <a:ln/>
          <a:effectLst>
            <a:outerShdw blurRad="76200" dist="25400" dir="8100000" algn="bl" rotWithShape="0">
              <a:srgbClr val="000000">
                <a:alpha val="10000"/>
              </a:srgbClr>
            </a:outerShdw>
          </a:effectLst>
        </p:spPr>
      </p:sp>
      <p:sp>
        <p:nvSpPr>
          <p:cNvPr id="12" name="Shape 10"/>
          <p:cNvSpPr/>
          <p:nvPr/>
        </p:nvSpPr>
        <p:spPr>
          <a:xfrm>
            <a:off x="2450592" y="1161288"/>
            <a:ext cx="1920240" cy="960120"/>
          </a:xfrm>
          <a:prstGeom prst="rect">
            <a:avLst/>
          </a:prstGeom>
          <a:solidFill>
            <a:srgbClr val="065A82"/>
          </a:solidFill>
          <a:ln/>
        </p:spPr>
      </p:sp>
      <p:sp>
        <p:nvSpPr>
          <p:cNvPr id="13" name="Text 11"/>
          <p:cNvSpPr/>
          <p:nvPr/>
        </p:nvSpPr>
        <p:spPr>
          <a:xfrm>
            <a:off x="2450592" y="1161288"/>
            <a:ext cx="192024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4" name="Text 12"/>
          <p:cNvSpPr/>
          <p:nvPr/>
        </p:nvSpPr>
        <p:spPr>
          <a:xfrm>
            <a:off x="2450592" y="1664208"/>
            <a:ext cx="1920240" cy="256032"/>
          </a:xfrm>
          <a:prstGeom prst="rect">
            <a:avLst/>
          </a:prstGeom>
          <a:noFill/>
          <a:ln/>
        </p:spPr>
        <p:txBody>
          <a:bodyPr wrap="square" lIns="0" tIns="0" rIns="0" bIns="0" rtlCol="0" anchor="ctr"/>
          <a:lstStyle/>
          <a:p>
            <a:pPr marL="0" indent="0" algn="ctr">
              <a:buNone/>
            </a:pPr>
            <a:r>
              <a:rPr lang="en-US" sz="1100" b="1" dirty="0">
                <a:solidFill>
                  <a:srgbClr val="FFFFFF"/>
                </a:solidFill>
              </a:rPr>
              <a:t>ACS712</a:t>
            </a:r>
            <a:endParaRPr lang="en-US" sz="1100" dirty="0"/>
          </a:p>
        </p:txBody>
      </p:sp>
      <p:sp>
        <p:nvSpPr>
          <p:cNvPr id="15" name="Text 13"/>
          <p:cNvSpPr/>
          <p:nvPr/>
        </p:nvSpPr>
        <p:spPr>
          <a:xfrm>
            <a:off x="2450592" y="1920240"/>
            <a:ext cx="1920240" cy="182880"/>
          </a:xfrm>
          <a:prstGeom prst="rect">
            <a:avLst/>
          </a:prstGeom>
          <a:noFill/>
          <a:ln/>
        </p:spPr>
        <p:txBody>
          <a:bodyPr wrap="square" lIns="0" tIns="0" rIns="0" bIns="0" rtlCol="0" anchor="ctr"/>
          <a:lstStyle/>
          <a:p>
            <a:pPr marL="0" indent="0" algn="ctr">
              <a:buNone/>
            </a:pPr>
            <a:r>
              <a:rPr lang="en-US" sz="950" i="1" dirty="0">
                <a:solidFill>
                  <a:srgbClr val="D0EAF5"/>
                </a:solidFill>
              </a:rPr>
              <a:t>Current Sensor</a:t>
            </a:r>
            <a:endParaRPr lang="en-US" sz="950" dirty="0"/>
          </a:p>
        </p:txBody>
      </p:sp>
      <p:sp>
        <p:nvSpPr>
          <p:cNvPr id="16" name="Text 14"/>
          <p:cNvSpPr/>
          <p:nvPr/>
        </p:nvSpPr>
        <p:spPr>
          <a:xfrm>
            <a:off x="2523744" y="2240280"/>
            <a:ext cx="1773936" cy="2377440"/>
          </a:xfrm>
          <a:prstGeom prst="rect">
            <a:avLst/>
          </a:prstGeom>
          <a:noFill/>
          <a:ln/>
        </p:spPr>
        <p:txBody>
          <a:bodyPr wrap="square" lIns="0" tIns="0" rIns="0" bIns="0" rtlCol="0" anchor="t"/>
          <a:lstStyle/>
          <a:p>
            <a:pPr marL="0" indent="0" algn="l">
              <a:buNone/>
            </a:pPr>
            <a:r>
              <a:rPr lang="en-US" sz="1150" dirty="0">
                <a:solidFill>
                  <a:srgbClr val="1A2B3C"/>
                </a:solidFill>
              </a:rPr>
              <a:t>Hall-effect, 5A range</a:t>
            </a:r>
            <a:endParaRPr lang="en-US" sz="1150" dirty="0"/>
          </a:p>
          <a:p>
            <a:pPr marL="0" indent="0" algn="l">
              <a:buNone/>
            </a:pPr>
            <a:r>
              <a:rPr lang="en-US" sz="1150" dirty="0">
                <a:solidFill>
                  <a:srgbClr val="1A2B3C"/>
                </a:solidFill>
              </a:rPr>
              <a:t>185 mV/A sensitivity</a:t>
            </a:r>
            <a:endParaRPr lang="en-US" sz="1150" dirty="0"/>
          </a:p>
          <a:p>
            <a:pPr marL="0" indent="0" algn="l">
              <a:buNone/>
            </a:pPr>
            <a:r>
              <a:rPr lang="en-US" sz="1150" dirty="0">
                <a:solidFill>
                  <a:srgbClr val="1A2B3C"/>
                </a:solidFill>
              </a:rPr>
              <a:t>Galvanic isolation</a:t>
            </a:r>
            <a:endParaRPr lang="en-US" sz="1150" dirty="0"/>
          </a:p>
        </p:txBody>
      </p:sp>
      <p:sp>
        <p:nvSpPr>
          <p:cNvPr id="17" name="Shape 15"/>
          <p:cNvSpPr/>
          <p:nvPr/>
        </p:nvSpPr>
        <p:spPr>
          <a:xfrm>
            <a:off x="274320" y="3012245"/>
            <a:ext cx="1920240" cy="1605475"/>
          </a:xfrm>
          <a:prstGeom prst="rect">
            <a:avLst/>
          </a:prstGeom>
          <a:solidFill>
            <a:srgbClr val="FFFFFF"/>
          </a:solidFill>
          <a:ln/>
          <a:effectLst>
            <a:outerShdw blurRad="76200" dist="25400" dir="8100000" algn="bl" rotWithShape="0">
              <a:srgbClr val="000000">
                <a:alpha val="10000"/>
              </a:srgbClr>
            </a:outerShdw>
          </a:effectLst>
        </p:spPr>
      </p:sp>
      <p:sp>
        <p:nvSpPr>
          <p:cNvPr id="18" name="Shape 16"/>
          <p:cNvSpPr/>
          <p:nvPr/>
        </p:nvSpPr>
        <p:spPr>
          <a:xfrm>
            <a:off x="299824" y="3035105"/>
            <a:ext cx="1920240" cy="960120"/>
          </a:xfrm>
          <a:prstGeom prst="rect">
            <a:avLst/>
          </a:prstGeom>
          <a:solidFill>
            <a:srgbClr val="00BFA6"/>
          </a:solidFill>
          <a:ln/>
        </p:spPr>
        <p:txBody>
          <a:bodyPr/>
          <a:lstStyle/>
          <a:p>
            <a:endParaRPr lang="en-IN" dirty="0"/>
          </a:p>
        </p:txBody>
      </p:sp>
      <p:sp>
        <p:nvSpPr>
          <p:cNvPr id="19" name="Text 17"/>
          <p:cNvSpPr/>
          <p:nvPr/>
        </p:nvSpPr>
        <p:spPr>
          <a:xfrm>
            <a:off x="274320" y="2985516"/>
            <a:ext cx="192024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0" name="Text 18"/>
          <p:cNvSpPr/>
          <p:nvPr/>
        </p:nvSpPr>
        <p:spPr>
          <a:xfrm>
            <a:off x="274320" y="3401567"/>
            <a:ext cx="1920240" cy="256032"/>
          </a:xfrm>
          <a:prstGeom prst="rect">
            <a:avLst/>
          </a:prstGeom>
          <a:noFill/>
          <a:ln/>
        </p:spPr>
        <p:txBody>
          <a:bodyPr wrap="square" lIns="0" tIns="0" rIns="0" bIns="0" rtlCol="0" anchor="ctr"/>
          <a:lstStyle/>
          <a:p>
            <a:pPr marL="0" indent="0" algn="ctr">
              <a:buNone/>
            </a:pPr>
            <a:r>
              <a:rPr lang="en-US" sz="1100" b="1" dirty="0">
                <a:solidFill>
                  <a:srgbClr val="FFFFFF"/>
                </a:solidFill>
              </a:rPr>
              <a:t>Arduino Nano</a:t>
            </a:r>
            <a:endParaRPr lang="en-US" sz="1100" dirty="0"/>
          </a:p>
        </p:txBody>
      </p:sp>
      <p:sp>
        <p:nvSpPr>
          <p:cNvPr id="21" name="Text 19"/>
          <p:cNvSpPr/>
          <p:nvPr/>
        </p:nvSpPr>
        <p:spPr>
          <a:xfrm>
            <a:off x="244426" y="3694879"/>
            <a:ext cx="1920240" cy="182880"/>
          </a:xfrm>
          <a:prstGeom prst="rect">
            <a:avLst/>
          </a:prstGeom>
          <a:noFill/>
          <a:ln/>
        </p:spPr>
        <p:txBody>
          <a:bodyPr wrap="square" lIns="0" tIns="0" rIns="0" bIns="0" rtlCol="0" anchor="ctr"/>
          <a:lstStyle/>
          <a:p>
            <a:pPr marL="0" indent="0" algn="ctr">
              <a:buNone/>
            </a:pPr>
            <a:r>
              <a:rPr lang="en-US" sz="950" i="1" dirty="0">
                <a:solidFill>
                  <a:srgbClr val="D0EAF5"/>
                </a:solidFill>
              </a:rPr>
              <a:t>Microcontroller</a:t>
            </a:r>
            <a:endParaRPr lang="en-US" sz="950" dirty="0"/>
          </a:p>
        </p:txBody>
      </p:sp>
      <p:sp>
        <p:nvSpPr>
          <p:cNvPr id="22" name="Text 20"/>
          <p:cNvSpPr/>
          <p:nvPr/>
        </p:nvSpPr>
        <p:spPr>
          <a:xfrm>
            <a:off x="437681" y="4008941"/>
            <a:ext cx="1773936" cy="635508"/>
          </a:xfrm>
          <a:prstGeom prst="rect">
            <a:avLst/>
          </a:prstGeom>
          <a:noFill/>
          <a:ln/>
        </p:spPr>
        <p:txBody>
          <a:bodyPr wrap="square" lIns="0" tIns="0" rIns="0" bIns="0" rtlCol="0" anchor="t"/>
          <a:lstStyle/>
          <a:p>
            <a:pPr marL="0" indent="0" algn="l">
              <a:buNone/>
            </a:pPr>
            <a:r>
              <a:rPr lang="en-US" sz="1150" dirty="0">
                <a:solidFill>
                  <a:srgbClr val="1A2B3C"/>
                </a:solidFill>
              </a:rPr>
              <a:t>ATmega328P @ 16 MHz</a:t>
            </a:r>
            <a:endParaRPr lang="en-US" sz="1150" dirty="0"/>
          </a:p>
          <a:p>
            <a:pPr marL="0" indent="0" algn="l">
              <a:buNone/>
            </a:pPr>
            <a:r>
              <a:rPr lang="en-US" sz="1150" dirty="0">
                <a:solidFill>
                  <a:srgbClr val="1A2B3C"/>
                </a:solidFill>
              </a:rPr>
              <a:t>10-bit ADC, 6 analog pins</a:t>
            </a:r>
            <a:endParaRPr lang="en-US" sz="1150" dirty="0"/>
          </a:p>
          <a:p>
            <a:pPr marL="0" indent="0" algn="l">
              <a:buNone/>
            </a:pPr>
            <a:r>
              <a:rPr lang="en-US" sz="1150" dirty="0">
                <a:solidFill>
                  <a:srgbClr val="1A2B3C"/>
                </a:solidFill>
              </a:rPr>
              <a:t>32 KB Flash memory</a:t>
            </a:r>
            <a:endParaRPr lang="en-US" sz="1150" dirty="0"/>
          </a:p>
        </p:txBody>
      </p:sp>
      <p:sp>
        <p:nvSpPr>
          <p:cNvPr id="23" name="Shape 21"/>
          <p:cNvSpPr/>
          <p:nvPr/>
        </p:nvSpPr>
        <p:spPr>
          <a:xfrm>
            <a:off x="2450592" y="3040381"/>
            <a:ext cx="1920240" cy="1604068"/>
          </a:xfrm>
          <a:prstGeom prst="rect">
            <a:avLst/>
          </a:prstGeom>
          <a:solidFill>
            <a:srgbClr val="FFFFFF"/>
          </a:solidFill>
          <a:ln/>
          <a:effectLst>
            <a:outerShdw blurRad="76200" dist="25400" dir="8100000" algn="bl" rotWithShape="0">
              <a:srgbClr val="000000">
                <a:alpha val="10000"/>
              </a:srgbClr>
            </a:outerShdw>
          </a:effectLst>
        </p:spPr>
      </p:sp>
      <p:sp>
        <p:nvSpPr>
          <p:cNvPr id="24" name="Shape 22"/>
          <p:cNvSpPr/>
          <p:nvPr/>
        </p:nvSpPr>
        <p:spPr>
          <a:xfrm>
            <a:off x="2450592" y="3040381"/>
            <a:ext cx="1920240" cy="960120"/>
          </a:xfrm>
          <a:prstGeom prst="rect">
            <a:avLst/>
          </a:prstGeom>
          <a:solidFill>
            <a:srgbClr val="FF6B35"/>
          </a:solidFill>
          <a:ln/>
        </p:spPr>
      </p:sp>
      <p:sp>
        <p:nvSpPr>
          <p:cNvPr id="25" name="Text 23"/>
          <p:cNvSpPr/>
          <p:nvPr/>
        </p:nvSpPr>
        <p:spPr>
          <a:xfrm>
            <a:off x="2450592" y="3022796"/>
            <a:ext cx="192024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6" name="Text 24"/>
          <p:cNvSpPr/>
          <p:nvPr/>
        </p:nvSpPr>
        <p:spPr>
          <a:xfrm>
            <a:off x="2501763" y="3450453"/>
            <a:ext cx="1920240" cy="256032"/>
          </a:xfrm>
          <a:prstGeom prst="rect">
            <a:avLst/>
          </a:prstGeom>
          <a:noFill/>
          <a:ln/>
        </p:spPr>
        <p:txBody>
          <a:bodyPr wrap="square" lIns="0" tIns="0" rIns="0" bIns="0" rtlCol="0" anchor="ctr"/>
          <a:lstStyle/>
          <a:p>
            <a:pPr marL="0" indent="0" algn="ctr">
              <a:buNone/>
            </a:pPr>
            <a:r>
              <a:rPr lang="en-US" sz="1100" b="1" dirty="0">
                <a:solidFill>
                  <a:srgbClr val="FFFFFF"/>
                </a:solidFill>
              </a:rPr>
              <a:t>OLED SSD1306</a:t>
            </a:r>
            <a:endParaRPr lang="en-US" sz="1100" dirty="0"/>
          </a:p>
        </p:txBody>
      </p:sp>
      <p:sp>
        <p:nvSpPr>
          <p:cNvPr id="27" name="Text 25"/>
          <p:cNvSpPr/>
          <p:nvPr/>
        </p:nvSpPr>
        <p:spPr>
          <a:xfrm>
            <a:off x="2450592" y="3713871"/>
            <a:ext cx="1920240" cy="182880"/>
          </a:xfrm>
          <a:prstGeom prst="rect">
            <a:avLst/>
          </a:prstGeom>
          <a:noFill/>
          <a:ln/>
        </p:spPr>
        <p:txBody>
          <a:bodyPr wrap="square" lIns="0" tIns="0" rIns="0" bIns="0" rtlCol="0" anchor="ctr"/>
          <a:lstStyle/>
          <a:p>
            <a:pPr marL="0" indent="0" algn="ctr">
              <a:buNone/>
            </a:pPr>
            <a:r>
              <a:rPr lang="en-US" sz="950" i="1" dirty="0">
                <a:solidFill>
                  <a:srgbClr val="D0EAF5"/>
                </a:solidFill>
              </a:rPr>
              <a:t>Display</a:t>
            </a:r>
            <a:endParaRPr lang="en-US" sz="950" dirty="0"/>
          </a:p>
        </p:txBody>
      </p:sp>
      <p:sp>
        <p:nvSpPr>
          <p:cNvPr id="28" name="Text 26"/>
          <p:cNvSpPr/>
          <p:nvPr/>
        </p:nvSpPr>
        <p:spPr>
          <a:xfrm>
            <a:off x="2784700" y="4054309"/>
            <a:ext cx="1773936" cy="524022"/>
          </a:xfrm>
          <a:prstGeom prst="rect">
            <a:avLst/>
          </a:prstGeom>
          <a:noFill/>
          <a:ln/>
        </p:spPr>
        <p:txBody>
          <a:bodyPr wrap="square" lIns="0" tIns="0" rIns="0" bIns="0" rtlCol="0" anchor="t"/>
          <a:lstStyle/>
          <a:p>
            <a:pPr marL="0" indent="0" algn="l">
              <a:buNone/>
            </a:pPr>
            <a:r>
              <a:rPr lang="en-US" sz="1150" dirty="0">
                <a:solidFill>
                  <a:srgbClr val="1A2B3C"/>
                </a:solidFill>
              </a:rPr>
              <a:t>0.96", 128×64 pixels</a:t>
            </a:r>
            <a:endParaRPr lang="en-US" sz="1150" dirty="0"/>
          </a:p>
          <a:p>
            <a:pPr marL="0" indent="0" algn="l">
              <a:buNone/>
            </a:pPr>
            <a:r>
              <a:rPr lang="en-US" sz="1150" dirty="0">
                <a:solidFill>
                  <a:srgbClr val="1A2B3C"/>
                </a:solidFill>
              </a:rPr>
              <a:t>I2C protocol (A4/A5)</a:t>
            </a:r>
            <a:endParaRPr lang="en-US" sz="1150" dirty="0"/>
          </a:p>
          <a:p>
            <a:pPr marL="0" indent="0" algn="l">
              <a:buNone/>
            </a:pPr>
            <a:r>
              <a:rPr lang="en-US" sz="1150" dirty="0">
                <a:solidFill>
                  <a:srgbClr val="1A2B3C"/>
                </a:solidFill>
              </a:rPr>
              <a:t>High contrast, 3.3–5V</a:t>
            </a:r>
            <a:endParaRPr lang="en-US" sz="1150" dirty="0"/>
          </a:p>
        </p:txBody>
      </p:sp>
      <p:pic>
        <p:nvPicPr>
          <p:cNvPr id="30" name="Picture 29">
            <a:extLst>
              <a:ext uri="{FF2B5EF4-FFF2-40B4-BE49-F238E27FC236}">
                <a16:creationId xmlns:a16="http://schemas.microsoft.com/office/drawing/2014/main" id="{DA32693F-67DA-6E88-D006-8EF710AF876B}"/>
              </a:ext>
            </a:extLst>
          </p:cNvPr>
          <p:cNvPicPr>
            <a:picLocks noChangeAspect="1"/>
          </p:cNvPicPr>
          <p:nvPr/>
        </p:nvPicPr>
        <p:blipFill>
          <a:blip r:embed="rId3"/>
          <a:stretch>
            <a:fillRect/>
          </a:stretch>
        </p:blipFill>
        <p:spPr>
          <a:xfrm>
            <a:off x="4905040" y="1161288"/>
            <a:ext cx="3801279" cy="34831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Shape 1"/>
          <p:cNvSpPr/>
          <p:nvPr/>
        </p:nvSpPr>
        <p:spPr>
          <a:xfrm>
            <a:off x="0" y="914400"/>
            <a:ext cx="9144000" cy="54864"/>
          </a:xfrm>
          <a:prstGeom prst="rect">
            <a:avLst/>
          </a:prstGeom>
          <a:solidFill>
            <a:srgbClr val="00BFA6"/>
          </a:solidFill>
          <a:ln/>
        </p:spPr>
      </p:sp>
      <p:sp>
        <p:nvSpPr>
          <p:cNvPr id="4" name="Text 2"/>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Working Principle</a:t>
            </a:r>
            <a:endParaRPr lang="en-US" sz="2600" dirty="0"/>
          </a:p>
        </p:txBody>
      </p:sp>
      <p:sp>
        <p:nvSpPr>
          <p:cNvPr id="5" name="Shape 3"/>
          <p:cNvSpPr/>
          <p:nvPr/>
        </p:nvSpPr>
        <p:spPr>
          <a:xfrm>
            <a:off x="228600" y="1170432"/>
            <a:ext cx="566928" cy="566928"/>
          </a:xfrm>
          <a:prstGeom prst="ellipse">
            <a:avLst/>
          </a:prstGeom>
          <a:solidFill>
            <a:srgbClr val="00BFA6"/>
          </a:solidFill>
          <a:ln/>
        </p:spPr>
      </p:sp>
      <p:sp>
        <p:nvSpPr>
          <p:cNvPr id="6" name="Text 4"/>
          <p:cNvSpPr/>
          <p:nvPr/>
        </p:nvSpPr>
        <p:spPr>
          <a:xfrm>
            <a:off x="228600" y="1170432"/>
            <a:ext cx="566928" cy="566928"/>
          </a:xfrm>
          <a:prstGeom prst="rect">
            <a:avLst/>
          </a:prstGeom>
          <a:noFill/>
          <a:ln/>
        </p:spPr>
        <p:txBody>
          <a:bodyPr wrap="square" lIns="0" tIns="0" rIns="0" bIns="0" rtlCol="0" anchor="ctr"/>
          <a:lstStyle/>
          <a:p>
            <a:pPr marL="0" indent="0" algn="ctr">
              <a:buNone/>
            </a:pPr>
            <a:r>
              <a:rPr lang="en-US" sz="1300" b="1" dirty="0">
                <a:solidFill>
                  <a:srgbClr val="0A1628"/>
                </a:solidFill>
              </a:rPr>
              <a:t>01</a:t>
            </a:r>
            <a:endParaRPr lang="en-US" sz="1300" dirty="0"/>
          </a:p>
        </p:txBody>
      </p:sp>
      <p:sp>
        <p:nvSpPr>
          <p:cNvPr id="7" name="Shape 5"/>
          <p:cNvSpPr/>
          <p:nvPr/>
        </p:nvSpPr>
        <p:spPr>
          <a:xfrm>
            <a:off x="960120" y="1097280"/>
            <a:ext cx="7955280" cy="713232"/>
          </a:xfrm>
          <a:prstGeom prst="rect">
            <a:avLst/>
          </a:prstGeom>
          <a:solidFill>
            <a:srgbClr val="FFFFFF"/>
          </a:solidFill>
          <a:ln/>
          <a:effectLst>
            <a:outerShdw blurRad="76200" dist="25400" dir="8100000" algn="bl" rotWithShape="0">
              <a:srgbClr val="000000">
                <a:alpha val="10000"/>
              </a:srgbClr>
            </a:outerShdw>
          </a:effectLst>
        </p:spPr>
      </p:sp>
      <p:sp>
        <p:nvSpPr>
          <p:cNvPr id="8" name="Text 6"/>
          <p:cNvSpPr/>
          <p:nvPr/>
        </p:nvSpPr>
        <p:spPr>
          <a:xfrm>
            <a:off x="1051560" y="1143000"/>
            <a:ext cx="2011680" cy="274320"/>
          </a:xfrm>
          <a:prstGeom prst="rect">
            <a:avLst/>
          </a:prstGeom>
          <a:noFill/>
          <a:ln/>
        </p:spPr>
        <p:txBody>
          <a:bodyPr wrap="square" lIns="0" tIns="0" rIns="0" bIns="0" rtlCol="0" anchor="ctr"/>
          <a:lstStyle/>
          <a:p>
            <a:pPr marL="0" indent="0">
              <a:buNone/>
            </a:pPr>
            <a:r>
              <a:rPr lang="en-US" sz="1200" b="1" dirty="0">
                <a:solidFill>
                  <a:srgbClr val="0A1628"/>
                </a:solidFill>
              </a:rPr>
              <a:t>Signal Sensing</a:t>
            </a:r>
            <a:endParaRPr lang="en-US" sz="1200" dirty="0"/>
          </a:p>
        </p:txBody>
      </p:sp>
      <p:sp>
        <p:nvSpPr>
          <p:cNvPr id="9" name="Text 7"/>
          <p:cNvSpPr/>
          <p:nvPr/>
        </p:nvSpPr>
        <p:spPr>
          <a:xfrm>
            <a:off x="3017520" y="1133856"/>
            <a:ext cx="5760720" cy="640080"/>
          </a:xfrm>
          <a:prstGeom prst="rect">
            <a:avLst/>
          </a:prstGeom>
          <a:noFill/>
          <a:ln/>
        </p:spPr>
        <p:txBody>
          <a:bodyPr wrap="square" lIns="0" tIns="0" rIns="0" bIns="0" rtlCol="0" anchor="ctr"/>
          <a:lstStyle/>
          <a:p>
            <a:pPr marL="0" indent="0">
              <a:buNone/>
            </a:pPr>
            <a:r>
              <a:rPr lang="en-US" sz="1100" dirty="0">
                <a:solidFill>
                  <a:srgbClr val="1A2B3C"/>
                </a:solidFill>
              </a:rPr>
              <a:t>ZMPT101B &amp; ACS712 simultaneously sense AC voltage and current, producing safe 0–5V analog signals centred at 2.5V.</a:t>
            </a:r>
            <a:endParaRPr lang="en-US" sz="1100" dirty="0"/>
          </a:p>
        </p:txBody>
      </p:sp>
      <p:sp>
        <p:nvSpPr>
          <p:cNvPr id="10" name="Shape 8"/>
          <p:cNvSpPr/>
          <p:nvPr/>
        </p:nvSpPr>
        <p:spPr>
          <a:xfrm>
            <a:off x="507492" y="1737360"/>
            <a:ext cx="0" cy="128016"/>
          </a:xfrm>
          <a:prstGeom prst="line">
            <a:avLst/>
          </a:prstGeom>
          <a:noFill/>
          <a:ln w="25400">
            <a:solidFill>
              <a:srgbClr val="00BFA6"/>
            </a:solidFill>
            <a:prstDash val="solid"/>
          </a:ln>
        </p:spPr>
      </p:sp>
      <p:sp>
        <p:nvSpPr>
          <p:cNvPr id="11" name="Shape 9"/>
          <p:cNvSpPr/>
          <p:nvPr/>
        </p:nvSpPr>
        <p:spPr>
          <a:xfrm>
            <a:off x="228600" y="1938528"/>
            <a:ext cx="566928" cy="566928"/>
          </a:xfrm>
          <a:prstGeom prst="ellipse">
            <a:avLst/>
          </a:prstGeom>
          <a:solidFill>
            <a:srgbClr val="00BFA6"/>
          </a:solidFill>
          <a:ln/>
        </p:spPr>
      </p:sp>
      <p:sp>
        <p:nvSpPr>
          <p:cNvPr id="12" name="Text 10"/>
          <p:cNvSpPr/>
          <p:nvPr/>
        </p:nvSpPr>
        <p:spPr>
          <a:xfrm>
            <a:off x="228600" y="1938528"/>
            <a:ext cx="566928" cy="566928"/>
          </a:xfrm>
          <a:prstGeom prst="rect">
            <a:avLst/>
          </a:prstGeom>
          <a:noFill/>
          <a:ln/>
        </p:spPr>
        <p:txBody>
          <a:bodyPr wrap="square" lIns="0" tIns="0" rIns="0" bIns="0" rtlCol="0" anchor="ctr"/>
          <a:lstStyle/>
          <a:p>
            <a:pPr marL="0" indent="0" algn="ctr">
              <a:buNone/>
            </a:pPr>
            <a:r>
              <a:rPr lang="en-US" sz="1300" b="1" dirty="0">
                <a:solidFill>
                  <a:srgbClr val="0A1628"/>
                </a:solidFill>
              </a:rPr>
              <a:t>02</a:t>
            </a:r>
            <a:endParaRPr lang="en-US" sz="1300" dirty="0"/>
          </a:p>
        </p:txBody>
      </p:sp>
      <p:sp>
        <p:nvSpPr>
          <p:cNvPr id="13" name="Shape 11"/>
          <p:cNvSpPr/>
          <p:nvPr/>
        </p:nvSpPr>
        <p:spPr>
          <a:xfrm>
            <a:off x="960120" y="1865376"/>
            <a:ext cx="7955280" cy="713232"/>
          </a:xfrm>
          <a:prstGeom prst="rect">
            <a:avLst/>
          </a:prstGeom>
          <a:solidFill>
            <a:srgbClr val="FFFFFF"/>
          </a:solidFill>
          <a:ln/>
          <a:effectLst>
            <a:outerShdw blurRad="76200" dist="25400" dir="8100000" algn="bl" rotWithShape="0">
              <a:srgbClr val="000000">
                <a:alpha val="10000"/>
              </a:srgbClr>
            </a:outerShdw>
          </a:effectLst>
        </p:spPr>
      </p:sp>
      <p:sp>
        <p:nvSpPr>
          <p:cNvPr id="14" name="Text 12"/>
          <p:cNvSpPr/>
          <p:nvPr/>
        </p:nvSpPr>
        <p:spPr>
          <a:xfrm>
            <a:off x="1051560" y="1911096"/>
            <a:ext cx="2011680" cy="274320"/>
          </a:xfrm>
          <a:prstGeom prst="rect">
            <a:avLst/>
          </a:prstGeom>
          <a:noFill/>
          <a:ln/>
        </p:spPr>
        <p:txBody>
          <a:bodyPr wrap="square" lIns="0" tIns="0" rIns="0" bIns="0" rtlCol="0" anchor="ctr"/>
          <a:lstStyle/>
          <a:p>
            <a:pPr marL="0" indent="0">
              <a:buNone/>
            </a:pPr>
            <a:r>
              <a:rPr lang="en-US" sz="1200" b="1" dirty="0">
                <a:solidFill>
                  <a:srgbClr val="0A1628"/>
                </a:solidFill>
              </a:rPr>
              <a:t>ADC Sampling</a:t>
            </a:r>
            <a:endParaRPr lang="en-US" sz="1200" dirty="0"/>
          </a:p>
        </p:txBody>
      </p:sp>
      <p:sp>
        <p:nvSpPr>
          <p:cNvPr id="15" name="Text 13"/>
          <p:cNvSpPr/>
          <p:nvPr/>
        </p:nvSpPr>
        <p:spPr>
          <a:xfrm>
            <a:off x="3017520" y="1901952"/>
            <a:ext cx="5760720" cy="640080"/>
          </a:xfrm>
          <a:prstGeom prst="rect">
            <a:avLst/>
          </a:prstGeom>
          <a:noFill/>
          <a:ln/>
        </p:spPr>
        <p:txBody>
          <a:bodyPr wrap="square" lIns="0" tIns="0" rIns="0" bIns="0" rtlCol="0" anchor="ctr"/>
          <a:lstStyle/>
          <a:p>
            <a:pPr marL="0" indent="0">
              <a:buNone/>
            </a:pPr>
            <a:r>
              <a:rPr lang="en-US" sz="1100" dirty="0">
                <a:solidFill>
                  <a:srgbClr val="1A2B3C"/>
                </a:solidFill>
              </a:rPr>
              <a:t>Arduino Nano samples 1000 data points from A0 &amp; A1 within one complete 20ms AC cycle (50Hz).</a:t>
            </a:r>
            <a:endParaRPr lang="en-US" sz="1100" dirty="0"/>
          </a:p>
        </p:txBody>
      </p:sp>
      <p:sp>
        <p:nvSpPr>
          <p:cNvPr id="16" name="Shape 14"/>
          <p:cNvSpPr/>
          <p:nvPr/>
        </p:nvSpPr>
        <p:spPr>
          <a:xfrm>
            <a:off x="507492" y="2505456"/>
            <a:ext cx="0" cy="128016"/>
          </a:xfrm>
          <a:prstGeom prst="line">
            <a:avLst/>
          </a:prstGeom>
          <a:noFill/>
          <a:ln w="25400">
            <a:solidFill>
              <a:srgbClr val="00BFA6"/>
            </a:solidFill>
            <a:prstDash val="solid"/>
          </a:ln>
        </p:spPr>
      </p:sp>
      <p:sp>
        <p:nvSpPr>
          <p:cNvPr id="17" name="Shape 15"/>
          <p:cNvSpPr/>
          <p:nvPr/>
        </p:nvSpPr>
        <p:spPr>
          <a:xfrm>
            <a:off x="228600" y="2706624"/>
            <a:ext cx="566928" cy="566928"/>
          </a:xfrm>
          <a:prstGeom prst="ellipse">
            <a:avLst/>
          </a:prstGeom>
          <a:solidFill>
            <a:srgbClr val="00BFA6"/>
          </a:solidFill>
          <a:ln/>
        </p:spPr>
      </p:sp>
      <p:sp>
        <p:nvSpPr>
          <p:cNvPr id="18" name="Text 16"/>
          <p:cNvSpPr/>
          <p:nvPr/>
        </p:nvSpPr>
        <p:spPr>
          <a:xfrm>
            <a:off x="228600" y="2706624"/>
            <a:ext cx="566928" cy="566928"/>
          </a:xfrm>
          <a:prstGeom prst="rect">
            <a:avLst/>
          </a:prstGeom>
          <a:noFill/>
          <a:ln/>
        </p:spPr>
        <p:txBody>
          <a:bodyPr wrap="square" lIns="0" tIns="0" rIns="0" bIns="0" rtlCol="0" anchor="ctr"/>
          <a:lstStyle/>
          <a:p>
            <a:pPr marL="0" indent="0" algn="ctr">
              <a:buNone/>
            </a:pPr>
            <a:r>
              <a:rPr lang="en-US" sz="1300" b="1" dirty="0">
                <a:solidFill>
                  <a:srgbClr val="0A1628"/>
                </a:solidFill>
              </a:rPr>
              <a:t>03</a:t>
            </a:r>
            <a:endParaRPr lang="en-US" sz="1300" dirty="0"/>
          </a:p>
        </p:txBody>
      </p:sp>
      <p:sp>
        <p:nvSpPr>
          <p:cNvPr id="19" name="Shape 17"/>
          <p:cNvSpPr/>
          <p:nvPr/>
        </p:nvSpPr>
        <p:spPr>
          <a:xfrm>
            <a:off x="960120" y="2633472"/>
            <a:ext cx="7955280" cy="713232"/>
          </a:xfrm>
          <a:prstGeom prst="rect">
            <a:avLst/>
          </a:prstGeom>
          <a:solidFill>
            <a:srgbClr val="FFFFFF"/>
          </a:solidFill>
          <a:ln/>
          <a:effectLst>
            <a:outerShdw blurRad="76200" dist="25400" dir="8100000" algn="bl" rotWithShape="0">
              <a:srgbClr val="000000">
                <a:alpha val="10000"/>
              </a:srgbClr>
            </a:outerShdw>
          </a:effectLst>
        </p:spPr>
      </p:sp>
      <p:sp>
        <p:nvSpPr>
          <p:cNvPr id="20" name="Text 18"/>
          <p:cNvSpPr/>
          <p:nvPr/>
        </p:nvSpPr>
        <p:spPr>
          <a:xfrm>
            <a:off x="1051560" y="2679192"/>
            <a:ext cx="2011680" cy="274320"/>
          </a:xfrm>
          <a:prstGeom prst="rect">
            <a:avLst/>
          </a:prstGeom>
          <a:noFill/>
          <a:ln/>
        </p:spPr>
        <p:txBody>
          <a:bodyPr wrap="square" lIns="0" tIns="0" rIns="0" bIns="0" rtlCol="0" anchor="ctr"/>
          <a:lstStyle/>
          <a:p>
            <a:pPr marL="0" indent="0">
              <a:buNone/>
            </a:pPr>
            <a:r>
              <a:rPr lang="en-US" sz="1200" b="1" dirty="0">
                <a:solidFill>
                  <a:srgbClr val="0A1628"/>
                </a:solidFill>
              </a:rPr>
              <a:t>RMS Calculation</a:t>
            </a:r>
            <a:endParaRPr lang="en-US" sz="1200" dirty="0"/>
          </a:p>
        </p:txBody>
      </p:sp>
      <p:sp>
        <p:nvSpPr>
          <p:cNvPr id="21" name="Text 19"/>
          <p:cNvSpPr/>
          <p:nvPr/>
        </p:nvSpPr>
        <p:spPr>
          <a:xfrm>
            <a:off x="3017520" y="2670048"/>
            <a:ext cx="5760720" cy="640080"/>
          </a:xfrm>
          <a:prstGeom prst="rect">
            <a:avLst/>
          </a:prstGeom>
          <a:noFill/>
          <a:ln/>
        </p:spPr>
        <p:txBody>
          <a:bodyPr wrap="square" lIns="0" tIns="0" rIns="0" bIns="0" rtlCol="0" anchor="ctr"/>
          <a:lstStyle/>
          <a:p>
            <a:pPr marL="0" indent="0">
              <a:buNone/>
            </a:pPr>
            <a:r>
              <a:rPr lang="en-US" sz="1100" dirty="0">
                <a:solidFill>
                  <a:srgbClr val="1A2B3C"/>
                </a:solidFill>
              </a:rPr>
              <a:t>Instantaneous values are squared, averaged over the full cycle, and square-rooted:</a:t>
            </a:r>
            <a:endParaRPr lang="en-US" sz="1100" dirty="0"/>
          </a:p>
          <a:p>
            <a:pPr marL="0" indent="0">
              <a:buNone/>
            </a:pPr>
            <a:r>
              <a:rPr lang="en-US" sz="1100" dirty="0">
                <a:solidFill>
                  <a:srgbClr val="1A2B3C"/>
                </a:solidFill>
              </a:rPr>
              <a:t>V_rms = √(Σv²/N),  I_rms = √(Σi²/N)</a:t>
            </a:r>
            <a:endParaRPr lang="en-US" sz="1100" dirty="0"/>
          </a:p>
        </p:txBody>
      </p:sp>
      <p:sp>
        <p:nvSpPr>
          <p:cNvPr id="22" name="Shape 20"/>
          <p:cNvSpPr/>
          <p:nvPr/>
        </p:nvSpPr>
        <p:spPr>
          <a:xfrm>
            <a:off x="507492" y="3273552"/>
            <a:ext cx="0" cy="128016"/>
          </a:xfrm>
          <a:prstGeom prst="line">
            <a:avLst/>
          </a:prstGeom>
          <a:noFill/>
          <a:ln w="25400">
            <a:solidFill>
              <a:srgbClr val="00BFA6"/>
            </a:solidFill>
            <a:prstDash val="solid"/>
          </a:ln>
        </p:spPr>
      </p:sp>
      <p:sp>
        <p:nvSpPr>
          <p:cNvPr id="23" name="Shape 21"/>
          <p:cNvSpPr/>
          <p:nvPr/>
        </p:nvSpPr>
        <p:spPr>
          <a:xfrm>
            <a:off x="228600" y="3474720"/>
            <a:ext cx="566928" cy="566928"/>
          </a:xfrm>
          <a:prstGeom prst="ellipse">
            <a:avLst/>
          </a:prstGeom>
          <a:solidFill>
            <a:srgbClr val="00BFA6"/>
          </a:solidFill>
          <a:ln/>
        </p:spPr>
      </p:sp>
      <p:sp>
        <p:nvSpPr>
          <p:cNvPr id="24" name="Text 22"/>
          <p:cNvSpPr/>
          <p:nvPr/>
        </p:nvSpPr>
        <p:spPr>
          <a:xfrm>
            <a:off x="228600" y="3474720"/>
            <a:ext cx="566928" cy="566928"/>
          </a:xfrm>
          <a:prstGeom prst="rect">
            <a:avLst/>
          </a:prstGeom>
          <a:noFill/>
          <a:ln/>
        </p:spPr>
        <p:txBody>
          <a:bodyPr wrap="square" lIns="0" tIns="0" rIns="0" bIns="0" rtlCol="0" anchor="ctr"/>
          <a:lstStyle/>
          <a:p>
            <a:pPr marL="0" indent="0" algn="ctr">
              <a:buNone/>
            </a:pPr>
            <a:r>
              <a:rPr lang="en-US" sz="1300" b="1" dirty="0">
                <a:solidFill>
                  <a:srgbClr val="0A1628"/>
                </a:solidFill>
              </a:rPr>
              <a:t>04</a:t>
            </a:r>
            <a:endParaRPr lang="en-US" sz="1300" dirty="0"/>
          </a:p>
        </p:txBody>
      </p:sp>
      <p:sp>
        <p:nvSpPr>
          <p:cNvPr id="25" name="Shape 23"/>
          <p:cNvSpPr/>
          <p:nvPr/>
        </p:nvSpPr>
        <p:spPr>
          <a:xfrm>
            <a:off x="960120" y="3401568"/>
            <a:ext cx="7955280" cy="713232"/>
          </a:xfrm>
          <a:prstGeom prst="rect">
            <a:avLst/>
          </a:prstGeom>
          <a:solidFill>
            <a:srgbClr val="FFFFFF"/>
          </a:solidFill>
          <a:ln/>
          <a:effectLst>
            <a:outerShdw blurRad="76200" dist="25400" dir="8100000" algn="bl" rotWithShape="0">
              <a:srgbClr val="000000">
                <a:alpha val="10000"/>
              </a:srgbClr>
            </a:outerShdw>
          </a:effectLst>
        </p:spPr>
      </p:sp>
      <p:sp>
        <p:nvSpPr>
          <p:cNvPr id="26" name="Text 24"/>
          <p:cNvSpPr/>
          <p:nvPr/>
        </p:nvSpPr>
        <p:spPr>
          <a:xfrm>
            <a:off x="1051560" y="3447288"/>
            <a:ext cx="2011680" cy="274320"/>
          </a:xfrm>
          <a:prstGeom prst="rect">
            <a:avLst/>
          </a:prstGeom>
          <a:noFill/>
          <a:ln/>
        </p:spPr>
        <p:txBody>
          <a:bodyPr wrap="square" lIns="0" tIns="0" rIns="0" bIns="0" rtlCol="0" anchor="ctr"/>
          <a:lstStyle/>
          <a:p>
            <a:pPr marL="0" indent="0">
              <a:buNone/>
            </a:pPr>
            <a:r>
              <a:rPr lang="en-US" sz="1200" b="1" dirty="0">
                <a:solidFill>
                  <a:srgbClr val="0A1628"/>
                </a:solidFill>
              </a:rPr>
              <a:t>Power &amp; Energy</a:t>
            </a:r>
            <a:endParaRPr lang="en-US" sz="1200" dirty="0"/>
          </a:p>
        </p:txBody>
      </p:sp>
      <p:sp>
        <p:nvSpPr>
          <p:cNvPr id="27" name="Text 25"/>
          <p:cNvSpPr/>
          <p:nvPr/>
        </p:nvSpPr>
        <p:spPr>
          <a:xfrm>
            <a:off x="3017520" y="3438144"/>
            <a:ext cx="5760720" cy="640080"/>
          </a:xfrm>
          <a:prstGeom prst="rect">
            <a:avLst/>
          </a:prstGeom>
          <a:noFill/>
          <a:ln/>
        </p:spPr>
        <p:txBody>
          <a:bodyPr wrap="square" lIns="0" tIns="0" rIns="0" bIns="0" rtlCol="0" anchor="ctr"/>
          <a:lstStyle/>
          <a:p>
            <a:pPr marL="0" indent="0">
              <a:buNone/>
            </a:pPr>
            <a:r>
              <a:rPr lang="en-US" sz="1100" dirty="0">
                <a:solidFill>
                  <a:srgbClr val="1A2B3C"/>
                </a:solidFill>
              </a:rPr>
              <a:t>Active Power: P = V_rms × I_rms (PF = 1 for resistive loads).</a:t>
            </a:r>
            <a:endParaRPr lang="en-US" sz="1100" dirty="0"/>
          </a:p>
          <a:p>
            <a:pPr marL="0" indent="0">
              <a:buNone/>
            </a:pPr>
            <a:r>
              <a:rPr lang="en-US" sz="1100" dirty="0">
                <a:solidFill>
                  <a:srgbClr val="1A2B3C"/>
                </a:solidFill>
              </a:rPr>
              <a:t>Energy is accumulated by integrating P over time (Wh).</a:t>
            </a:r>
            <a:endParaRPr lang="en-US" sz="1100" dirty="0"/>
          </a:p>
        </p:txBody>
      </p:sp>
      <p:sp>
        <p:nvSpPr>
          <p:cNvPr id="28" name="Shape 26"/>
          <p:cNvSpPr/>
          <p:nvPr/>
        </p:nvSpPr>
        <p:spPr>
          <a:xfrm>
            <a:off x="507492" y="4041648"/>
            <a:ext cx="0" cy="128016"/>
          </a:xfrm>
          <a:prstGeom prst="line">
            <a:avLst/>
          </a:prstGeom>
          <a:noFill/>
          <a:ln w="25400">
            <a:solidFill>
              <a:srgbClr val="00BFA6"/>
            </a:solidFill>
            <a:prstDash val="solid"/>
          </a:ln>
        </p:spPr>
      </p:sp>
      <p:sp>
        <p:nvSpPr>
          <p:cNvPr id="29" name="Shape 27"/>
          <p:cNvSpPr/>
          <p:nvPr/>
        </p:nvSpPr>
        <p:spPr>
          <a:xfrm>
            <a:off x="228600" y="4242816"/>
            <a:ext cx="566928" cy="566928"/>
          </a:xfrm>
          <a:prstGeom prst="ellipse">
            <a:avLst/>
          </a:prstGeom>
          <a:solidFill>
            <a:srgbClr val="00BFA6"/>
          </a:solidFill>
          <a:ln/>
        </p:spPr>
      </p:sp>
      <p:sp>
        <p:nvSpPr>
          <p:cNvPr id="30" name="Text 28"/>
          <p:cNvSpPr/>
          <p:nvPr/>
        </p:nvSpPr>
        <p:spPr>
          <a:xfrm>
            <a:off x="228600" y="4242816"/>
            <a:ext cx="566928" cy="566928"/>
          </a:xfrm>
          <a:prstGeom prst="rect">
            <a:avLst/>
          </a:prstGeom>
          <a:noFill/>
          <a:ln/>
        </p:spPr>
        <p:txBody>
          <a:bodyPr wrap="square" lIns="0" tIns="0" rIns="0" bIns="0" rtlCol="0" anchor="ctr"/>
          <a:lstStyle/>
          <a:p>
            <a:pPr marL="0" indent="0" algn="ctr">
              <a:buNone/>
            </a:pPr>
            <a:r>
              <a:rPr lang="en-US" sz="1300" b="1" dirty="0">
                <a:solidFill>
                  <a:srgbClr val="0A1628"/>
                </a:solidFill>
              </a:rPr>
              <a:t>05</a:t>
            </a:r>
            <a:endParaRPr lang="en-US" sz="1300" dirty="0"/>
          </a:p>
        </p:txBody>
      </p:sp>
      <p:sp>
        <p:nvSpPr>
          <p:cNvPr id="31" name="Shape 29"/>
          <p:cNvSpPr/>
          <p:nvPr/>
        </p:nvSpPr>
        <p:spPr>
          <a:xfrm>
            <a:off x="960120" y="4169664"/>
            <a:ext cx="7955280" cy="713232"/>
          </a:xfrm>
          <a:prstGeom prst="rect">
            <a:avLst/>
          </a:prstGeom>
          <a:solidFill>
            <a:srgbClr val="FFFFFF"/>
          </a:solidFill>
          <a:ln/>
          <a:effectLst>
            <a:outerShdw blurRad="76200" dist="25400" dir="8100000" algn="bl" rotWithShape="0">
              <a:srgbClr val="000000">
                <a:alpha val="10000"/>
              </a:srgbClr>
            </a:outerShdw>
          </a:effectLst>
        </p:spPr>
      </p:sp>
      <p:sp>
        <p:nvSpPr>
          <p:cNvPr id="32" name="Text 30"/>
          <p:cNvSpPr/>
          <p:nvPr/>
        </p:nvSpPr>
        <p:spPr>
          <a:xfrm>
            <a:off x="1051560" y="4215384"/>
            <a:ext cx="2011680" cy="274320"/>
          </a:xfrm>
          <a:prstGeom prst="rect">
            <a:avLst/>
          </a:prstGeom>
          <a:noFill/>
          <a:ln/>
        </p:spPr>
        <p:txBody>
          <a:bodyPr wrap="square" lIns="0" tIns="0" rIns="0" bIns="0" rtlCol="0" anchor="ctr"/>
          <a:lstStyle/>
          <a:p>
            <a:pPr marL="0" indent="0">
              <a:buNone/>
            </a:pPr>
            <a:r>
              <a:rPr lang="en-US" sz="1200" b="1" dirty="0">
                <a:solidFill>
                  <a:srgbClr val="0A1628"/>
                </a:solidFill>
              </a:rPr>
              <a:t>Display Update</a:t>
            </a:r>
            <a:endParaRPr lang="en-US" sz="1200" dirty="0"/>
          </a:p>
        </p:txBody>
      </p:sp>
      <p:sp>
        <p:nvSpPr>
          <p:cNvPr id="33" name="Text 31"/>
          <p:cNvSpPr/>
          <p:nvPr/>
        </p:nvSpPr>
        <p:spPr>
          <a:xfrm>
            <a:off x="3017520" y="4206240"/>
            <a:ext cx="5760720" cy="640080"/>
          </a:xfrm>
          <a:prstGeom prst="rect">
            <a:avLst/>
          </a:prstGeom>
          <a:noFill/>
          <a:ln/>
        </p:spPr>
        <p:txBody>
          <a:bodyPr wrap="square" lIns="0" tIns="0" rIns="0" bIns="0" rtlCol="0" anchor="ctr"/>
          <a:lstStyle/>
          <a:p>
            <a:pPr marL="0" indent="0">
              <a:buNone/>
            </a:pPr>
            <a:r>
              <a:rPr lang="en-US" sz="1100" dirty="0">
                <a:solidFill>
                  <a:srgbClr val="1A2B3C"/>
                </a:solidFill>
              </a:rPr>
              <a:t>All four values (V, A, W, Wh) are rendered on the OLED every 1 second using a millis()-based non-blocking timer.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Shape 1"/>
          <p:cNvSpPr/>
          <p:nvPr/>
        </p:nvSpPr>
        <p:spPr>
          <a:xfrm>
            <a:off x="0" y="914400"/>
            <a:ext cx="9144000" cy="54864"/>
          </a:xfrm>
          <a:prstGeom prst="rect">
            <a:avLst/>
          </a:prstGeom>
          <a:solidFill>
            <a:srgbClr val="00BFA6"/>
          </a:solidFill>
          <a:ln/>
        </p:spPr>
      </p:sp>
      <p:sp>
        <p:nvSpPr>
          <p:cNvPr id="4" name="Text 2"/>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Hardware Design &amp; Circuit</a:t>
            </a:r>
            <a:endParaRPr lang="en-US" sz="2600" dirty="0"/>
          </a:p>
        </p:txBody>
      </p:sp>
      <p:sp>
        <p:nvSpPr>
          <p:cNvPr id="5" name="Shape 3"/>
          <p:cNvSpPr/>
          <p:nvPr/>
        </p:nvSpPr>
        <p:spPr>
          <a:xfrm>
            <a:off x="274320" y="1097280"/>
            <a:ext cx="3657600" cy="347472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274320" y="1097280"/>
            <a:ext cx="3657600" cy="347472"/>
          </a:xfrm>
          <a:prstGeom prst="rect">
            <a:avLst/>
          </a:prstGeom>
          <a:solidFill>
            <a:srgbClr val="00BFA6"/>
          </a:solidFill>
          <a:ln/>
        </p:spPr>
      </p:sp>
      <p:sp>
        <p:nvSpPr>
          <p:cNvPr id="7" name="Text 5"/>
          <p:cNvSpPr/>
          <p:nvPr/>
        </p:nvSpPr>
        <p:spPr>
          <a:xfrm>
            <a:off x="365760" y="1124712"/>
            <a:ext cx="3474720" cy="274320"/>
          </a:xfrm>
          <a:prstGeom prst="rect">
            <a:avLst/>
          </a:prstGeom>
          <a:noFill/>
          <a:ln/>
        </p:spPr>
        <p:txBody>
          <a:bodyPr wrap="square" lIns="0" tIns="0" rIns="0" bIns="0" rtlCol="0" anchor="ctr"/>
          <a:lstStyle/>
          <a:p>
            <a:pPr marL="0" indent="0">
              <a:buNone/>
            </a:pPr>
            <a:r>
              <a:rPr lang="en-US" sz="1300" b="1" dirty="0">
                <a:solidFill>
                  <a:srgbClr val="0A1628"/>
                </a:solidFill>
              </a:rPr>
              <a:t>Pin Connections</a:t>
            </a:r>
            <a:endParaRPr lang="en-US" sz="1300" dirty="0"/>
          </a:p>
        </p:txBody>
      </p:sp>
      <p:sp>
        <p:nvSpPr>
          <p:cNvPr id="8" name="Shape 6"/>
          <p:cNvSpPr/>
          <p:nvPr/>
        </p:nvSpPr>
        <p:spPr>
          <a:xfrm>
            <a:off x="274320" y="1508760"/>
            <a:ext cx="3657600" cy="347472"/>
          </a:xfrm>
          <a:prstGeom prst="rect">
            <a:avLst/>
          </a:prstGeom>
          <a:solidFill>
            <a:srgbClr val="0A1628"/>
          </a:solidFill>
          <a:ln/>
        </p:spPr>
      </p:sp>
      <p:sp>
        <p:nvSpPr>
          <p:cNvPr id="9" name="Text 7"/>
          <p:cNvSpPr/>
          <p:nvPr/>
        </p:nvSpPr>
        <p:spPr>
          <a:xfrm>
            <a:off x="320040" y="1508760"/>
            <a:ext cx="1463040" cy="347472"/>
          </a:xfrm>
          <a:prstGeom prst="rect">
            <a:avLst/>
          </a:prstGeom>
          <a:noFill/>
          <a:ln/>
        </p:spPr>
        <p:txBody>
          <a:bodyPr wrap="square" lIns="0" tIns="0" rIns="0" bIns="0" rtlCol="0" anchor="ctr"/>
          <a:lstStyle/>
          <a:p>
            <a:pPr marL="0" indent="0">
              <a:buNone/>
            </a:pPr>
            <a:r>
              <a:rPr lang="en-US" sz="1000" b="1" dirty="0">
                <a:solidFill>
                  <a:srgbClr val="FFFFFF"/>
                </a:solidFill>
              </a:rPr>
              <a:t>Module</a:t>
            </a:r>
            <a:endParaRPr lang="en-US" sz="1000" dirty="0"/>
          </a:p>
        </p:txBody>
      </p:sp>
      <p:sp>
        <p:nvSpPr>
          <p:cNvPr id="10" name="Text 8"/>
          <p:cNvSpPr/>
          <p:nvPr/>
        </p:nvSpPr>
        <p:spPr>
          <a:xfrm>
            <a:off x="1783080" y="1508760"/>
            <a:ext cx="822960" cy="347472"/>
          </a:xfrm>
          <a:prstGeom prst="rect">
            <a:avLst/>
          </a:prstGeom>
          <a:noFill/>
          <a:ln/>
        </p:spPr>
        <p:txBody>
          <a:bodyPr wrap="square" lIns="0" tIns="0" rIns="0" bIns="0" rtlCol="0" anchor="ctr"/>
          <a:lstStyle/>
          <a:p>
            <a:pPr marL="0" indent="0" algn="ctr">
              <a:buNone/>
            </a:pPr>
            <a:r>
              <a:rPr lang="en-US" sz="1000" b="1" dirty="0">
                <a:solidFill>
                  <a:srgbClr val="FFFFFF"/>
                </a:solidFill>
              </a:rPr>
              <a:t>Pin</a:t>
            </a:r>
            <a:endParaRPr lang="en-US" sz="1000" dirty="0"/>
          </a:p>
        </p:txBody>
      </p:sp>
      <p:sp>
        <p:nvSpPr>
          <p:cNvPr id="11" name="Text 9"/>
          <p:cNvSpPr/>
          <p:nvPr/>
        </p:nvSpPr>
        <p:spPr>
          <a:xfrm>
            <a:off x="2606040" y="1508760"/>
            <a:ext cx="1280160" cy="347472"/>
          </a:xfrm>
          <a:prstGeom prst="rect">
            <a:avLst/>
          </a:prstGeom>
          <a:noFill/>
          <a:ln/>
        </p:spPr>
        <p:txBody>
          <a:bodyPr wrap="square" lIns="0" tIns="0" rIns="0" bIns="0" rtlCol="0" anchor="ctr"/>
          <a:lstStyle/>
          <a:p>
            <a:pPr marL="0" indent="0" algn="ctr">
              <a:buNone/>
            </a:pPr>
            <a:r>
              <a:rPr lang="en-US" sz="1000" b="1" dirty="0">
                <a:solidFill>
                  <a:srgbClr val="FFFFFF"/>
                </a:solidFill>
              </a:rPr>
              <a:t>Arduino</a:t>
            </a:r>
            <a:endParaRPr lang="en-US" sz="1000" dirty="0"/>
          </a:p>
        </p:txBody>
      </p:sp>
      <p:sp>
        <p:nvSpPr>
          <p:cNvPr id="12" name="Shape 10"/>
          <p:cNvSpPr/>
          <p:nvPr/>
        </p:nvSpPr>
        <p:spPr>
          <a:xfrm>
            <a:off x="274320" y="1865376"/>
            <a:ext cx="3657600" cy="347472"/>
          </a:xfrm>
          <a:prstGeom prst="rect">
            <a:avLst/>
          </a:prstGeom>
          <a:solidFill>
            <a:srgbClr val="FFFFFF"/>
          </a:solidFill>
          <a:ln/>
        </p:spPr>
      </p:sp>
      <p:sp>
        <p:nvSpPr>
          <p:cNvPr id="13" name="Text 11"/>
          <p:cNvSpPr/>
          <p:nvPr/>
        </p:nvSpPr>
        <p:spPr>
          <a:xfrm>
            <a:off x="320040" y="1865376"/>
            <a:ext cx="1463040" cy="347472"/>
          </a:xfrm>
          <a:prstGeom prst="rect">
            <a:avLst/>
          </a:prstGeom>
          <a:noFill/>
          <a:ln/>
        </p:spPr>
        <p:txBody>
          <a:bodyPr wrap="square" lIns="0" tIns="0" rIns="0" bIns="0" rtlCol="0" anchor="ctr"/>
          <a:lstStyle/>
          <a:p>
            <a:pPr marL="0" indent="0">
              <a:buNone/>
            </a:pPr>
            <a:r>
              <a:rPr lang="en-US" sz="1000" dirty="0">
                <a:solidFill>
                  <a:srgbClr val="1A2B3C"/>
                </a:solidFill>
              </a:rPr>
              <a:t>ZMPT101B</a:t>
            </a:r>
            <a:endParaRPr lang="en-US" sz="1000" dirty="0"/>
          </a:p>
        </p:txBody>
      </p:sp>
      <p:sp>
        <p:nvSpPr>
          <p:cNvPr id="14" name="Text 12"/>
          <p:cNvSpPr/>
          <p:nvPr/>
        </p:nvSpPr>
        <p:spPr>
          <a:xfrm>
            <a:off x="1783080" y="1865376"/>
            <a:ext cx="822960" cy="347472"/>
          </a:xfrm>
          <a:prstGeom prst="rect">
            <a:avLst/>
          </a:prstGeom>
          <a:noFill/>
          <a:ln/>
        </p:spPr>
        <p:txBody>
          <a:bodyPr wrap="square" lIns="0" tIns="0" rIns="0" bIns="0" rtlCol="0" anchor="ctr"/>
          <a:lstStyle/>
          <a:p>
            <a:pPr marL="0" indent="0" algn="ctr">
              <a:buNone/>
            </a:pPr>
            <a:r>
              <a:rPr lang="en-US" sz="1000" dirty="0">
                <a:solidFill>
                  <a:srgbClr val="1A2B3C"/>
                </a:solidFill>
              </a:rPr>
              <a:t>OUT</a:t>
            </a:r>
            <a:endParaRPr lang="en-US" sz="1000" dirty="0"/>
          </a:p>
        </p:txBody>
      </p:sp>
      <p:sp>
        <p:nvSpPr>
          <p:cNvPr id="15" name="Text 13"/>
          <p:cNvSpPr/>
          <p:nvPr/>
        </p:nvSpPr>
        <p:spPr>
          <a:xfrm>
            <a:off x="2606040" y="1865376"/>
            <a:ext cx="1280160" cy="347472"/>
          </a:xfrm>
          <a:prstGeom prst="rect">
            <a:avLst/>
          </a:prstGeom>
          <a:noFill/>
          <a:ln/>
        </p:spPr>
        <p:txBody>
          <a:bodyPr wrap="square" lIns="0" tIns="0" rIns="0" bIns="0" rtlCol="0" anchor="ctr"/>
          <a:lstStyle/>
          <a:p>
            <a:pPr marL="0" indent="0" algn="ctr">
              <a:buNone/>
            </a:pPr>
            <a:r>
              <a:rPr lang="en-US" sz="1000" dirty="0">
                <a:solidFill>
                  <a:srgbClr val="1A2B3C"/>
                </a:solidFill>
              </a:rPr>
              <a:t>A0</a:t>
            </a:r>
            <a:endParaRPr lang="en-US" sz="1000" dirty="0"/>
          </a:p>
        </p:txBody>
      </p:sp>
      <p:sp>
        <p:nvSpPr>
          <p:cNvPr id="16" name="Shape 14"/>
          <p:cNvSpPr/>
          <p:nvPr/>
        </p:nvSpPr>
        <p:spPr>
          <a:xfrm>
            <a:off x="274320" y="2221992"/>
            <a:ext cx="3657600" cy="347472"/>
          </a:xfrm>
          <a:prstGeom prst="rect">
            <a:avLst/>
          </a:prstGeom>
          <a:solidFill>
            <a:srgbClr val="EBF9F7"/>
          </a:solidFill>
          <a:ln/>
        </p:spPr>
      </p:sp>
      <p:sp>
        <p:nvSpPr>
          <p:cNvPr id="17" name="Text 15"/>
          <p:cNvSpPr/>
          <p:nvPr/>
        </p:nvSpPr>
        <p:spPr>
          <a:xfrm>
            <a:off x="320040" y="2221992"/>
            <a:ext cx="1463040" cy="347472"/>
          </a:xfrm>
          <a:prstGeom prst="rect">
            <a:avLst/>
          </a:prstGeom>
          <a:noFill/>
          <a:ln/>
        </p:spPr>
        <p:txBody>
          <a:bodyPr wrap="square" lIns="0" tIns="0" rIns="0" bIns="0" rtlCol="0" anchor="ctr"/>
          <a:lstStyle/>
          <a:p>
            <a:pPr marL="0" indent="0">
              <a:buNone/>
            </a:pPr>
            <a:r>
              <a:rPr lang="en-US" sz="1000" dirty="0">
                <a:solidFill>
                  <a:srgbClr val="1A2B3C"/>
                </a:solidFill>
              </a:rPr>
              <a:t>ACS712</a:t>
            </a:r>
            <a:endParaRPr lang="en-US" sz="1000" dirty="0"/>
          </a:p>
        </p:txBody>
      </p:sp>
      <p:sp>
        <p:nvSpPr>
          <p:cNvPr id="18" name="Text 16"/>
          <p:cNvSpPr/>
          <p:nvPr/>
        </p:nvSpPr>
        <p:spPr>
          <a:xfrm>
            <a:off x="1783080" y="2221992"/>
            <a:ext cx="822960" cy="347472"/>
          </a:xfrm>
          <a:prstGeom prst="rect">
            <a:avLst/>
          </a:prstGeom>
          <a:noFill/>
          <a:ln/>
        </p:spPr>
        <p:txBody>
          <a:bodyPr wrap="square" lIns="0" tIns="0" rIns="0" bIns="0" rtlCol="0" anchor="ctr"/>
          <a:lstStyle/>
          <a:p>
            <a:pPr marL="0" indent="0" algn="ctr">
              <a:buNone/>
            </a:pPr>
            <a:r>
              <a:rPr lang="en-US" sz="1000" dirty="0">
                <a:solidFill>
                  <a:srgbClr val="1A2B3C"/>
                </a:solidFill>
              </a:rPr>
              <a:t>OUT</a:t>
            </a:r>
            <a:endParaRPr lang="en-US" sz="1000" dirty="0"/>
          </a:p>
        </p:txBody>
      </p:sp>
      <p:sp>
        <p:nvSpPr>
          <p:cNvPr id="19" name="Text 17"/>
          <p:cNvSpPr/>
          <p:nvPr/>
        </p:nvSpPr>
        <p:spPr>
          <a:xfrm>
            <a:off x="2606040" y="2221992"/>
            <a:ext cx="1280160" cy="347472"/>
          </a:xfrm>
          <a:prstGeom prst="rect">
            <a:avLst/>
          </a:prstGeom>
          <a:noFill/>
          <a:ln/>
        </p:spPr>
        <p:txBody>
          <a:bodyPr wrap="square" lIns="0" tIns="0" rIns="0" bIns="0" rtlCol="0" anchor="ctr"/>
          <a:lstStyle/>
          <a:p>
            <a:pPr marL="0" indent="0" algn="ctr">
              <a:buNone/>
            </a:pPr>
            <a:r>
              <a:rPr lang="en-US" sz="1000" dirty="0">
                <a:solidFill>
                  <a:srgbClr val="1A2B3C"/>
                </a:solidFill>
              </a:rPr>
              <a:t>A1</a:t>
            </a:r>
            <a:endParaRPr lang="en-US" sz="1000" dirty="0"/>
          </a:p>
        </p:txBody>
      </p:sp>
      <p:sp>
        <p:nvSpPr>
          <p:cNvPr id="20" name="Shape 18"/>
          <p:cNvSpPr/>
          <p:nvPr/>
        </p:nvSpPr>
        <p:spPr>
          <a:xfrm>
            <a:off x="274320" y="2578608"/>
            <a:ext cx="3657600" cy="347472"/>
          </a:xfrm>
          <a:prstGeom prst="rect">
            <a:avLst/>
          </a:prstGeom>
          <a:solidFill>
            <a:srgbClr val="FFFFFF"/>
          </a:solidFill>
          <a:ln/>
        </p:spPr>
      </p:sp>
      <p:sp>
        <p:nvSpPr>
          <p:cNvPr id="21" name="Text 19"/>
          <p:cNvSpPr/>
          <p:nvPr/>
        </p:nvSpPr>
        <p:spPr>
          <a:xfrm>
            <a:off x="320040" y="2578608"/>
            <a:ext cx="1463040" cy="347472"/>
          </a:xfrm>
          <a:prstGeom prst="rect">
            <a:avLst/>
          </a:prstGeom>
          <a:noFill/>
          <a:ln/>
        </p:spPr>
        <p:txBody>
          <a:bodyPr wrap="square" lIns="0" tIns="0" rIns="0" bIns="0" rtlCol="0" anchor="ctr"/>
          <a:lstStyle/>
          <a:p>
            <a:pPr marL="0" indent="0">
              <a:buNone/>
            </a:pPr>
            <a:r>
              <a:rPr lang="en-US" sz="1000" dirty="0">
                <a:solidFill>
                  <a:srgbClr val="1A2B3C"/>
                </a:solidFill>
              </a:rPr>
              <a:t>OLED SSD1306</a:t>
            </a:r>
            <a:endParaRPr lang="en-US" sz="1000" dirty="0"/>
          </a:p>
        </p:txBody>
      </p:sp>
      <p:sp>
        <p:nvSpPr>
          <p:cNvPr id="22" name="Text 20"/>
          <p:cNvSpPr/>
          <p:nvPr/>
        </p:nvSpPr>
        <p:spPr>
          <a:xfrm>
            <a:off x="1783080" y="2578608"/>
            <a:ext cx="822960" cy="347472"/>
          </a:xfrm>
          <a:prstGeom prst="rect">
            <a:avLst/>
          </a:prstGeom>
          <a:noFill/>
          <a:ln/>
        </p:spPr>
        <p:txBody>
          <a:bodyPr wrap="square" lIns="0" tIns="0" rIns="0" bIns="0" rtlCol="0" anchor="ctr"/>
          <a:lstStyle/>
          <a:p>
            <a:pPr marL="0" indent="0" algn="ctr">
              <a:buNone/>
            </a:pPr>
            <a:r>
              <a:rPr lang="en-US" sz="1000" dirty="0">
                <a:solidFill>
                  <a:srgbClr val="1A2B3C"/>
                </a:solidFill>
              </a:rPr>
              <a:t>SDA</a:t>
            </a:r>
            <a:endParaRPr lang="en-US" sz="1000" dirty="0"/>
          </a:p>
        </p:txBody>
      </p:sp>
      <p:sp>
        <p:nvSpPr>
          <p:cNvPr id="23" name="Text 21"/>
          <p:cNvSpPr/>
          <p:nvPr/>
        </p:nvSpPr>
        <p:spPr>
          <a:xfrm>
            <a:off x="2606040" y="2578608"/>
            <a:ext cx="1280160" cy="347472"/>
          </a:xfrm>
          <a:prstGeom prst="rect">
            <a:avLst/>
          </a:prstGeom>
          <a:noFill/>
          <a:ln/>
        </p:spPr>
        <p:txBody>
          <a:bodyPr wrap="square" lIns="0" tIns="0" rIns="0" bIns="0" rtlCol="0" anchor="ctr"/>
          <a:lstStyle/>
          <a:p>
            <a:pPr marL="0" indent="0" algn="ctr">
              <a:buNone/>
            </a:pPr>
            <a:r>
              <a:rPr lang="en-US" sz="1000" dirty="0">
                <a:solidFill>
                  <a:srgbClr val="1A2B3C"/>
                </a:solidFill>
              </a:rPr>
              <a:t>A4</a:t>
            </a:r>
            <a:endParaRPr lang="en-US" sz="1000" dirty="0"/>
          </a:p>
        </p:txBody>
      </p:sp>
      <p:sp>
        <p:nvSpPr>
          <p:cNvPr id="24" name="Shape 22"/>
          <p:cNvSpPr/>
          <p:nvPr/>
        </p:nvSpPr>
        <p:spPr>
          <a:xfrm>
            <a:off x="274320" y="2935224"/>
            <a:ext cx="3657600" cy="347472"/>
          </a:xfrm>
          <a:prstGeom prst="rect">
            <a:avLst/>
          </a:prstGeom>
          <a:solidFill>
            <a:srgbClr val="EBF9F7"/>
          </a:solidFill>
          <a:ln/>
        </p:spPr>
      </p:sp>
      <p:sp>
        <p:nvSpPr>
          <p:cNvPr id="25" name="Text 23"/>
          <p:cNvSpPr/>
          <p:nvPr/>
        </p:nvSpPr>
        <p:spPr>
          <a:xfrm>
            <a:off x="320040" y="2935224"/>
            <a:ext cx="1463040" cy="347472"/>
          </a:xfrm>
          <a:prstGeom prst="rect">
            <a:avLst/>
          </a:prstGeom>
          <a:noFill/>
          <a:ln/>
        </p:spPr>
        <p:txBody>
          <a:bodyPr wrap="square" lIns="0" tIns="0" rIns="0" bIns="0" rtlCol="0" anchor="ctr"/>
          <a:lstStyle/>
          <a:p>
            <a:pPr marL="0" indent="0">
              <a:buNone/>
            </a:pPr>
            <a:r>
              <a:rPr lang="en-US" sz="1000" dirty="0">
                <a:solidFill>
                  <a:srgbClr val="1A2B3C"/>
                </a:solidFill>
              </a:rPr>
              <a:t>OLED SSD1306</a:t>
            </a:r>
            <a:endParaRPr lang="en-US" sz="1000" dirty="0"/>
          </a:p>
        </p:txBody>
      </p:sp>
      <p:sp>
        <p:nvSpPr>
          <p:cNvPr id="26" name="Text 24"/>
          <p:cNvSpPr/>
          <p:nvPr/>
        </p:nvSpPr>
        <p:spPr>
          <a:xfrm>
            <a:off x="1783080" y="2935224"/>
            <a:ext cx="822960" cy="347472"/>
          </a:xfrm>
          <a:prstGeom prst="rect">
            <a:avLst/>
          </a:prstGeom>
          <a:noFill/>
          <a:ln/>
        </p:spPr>
        <p:txBody>
          <a:bodyPr wrap="square" lIns="0" tIns="0" rIns="0" bIns="0" rtlCol="0" anchor="ctr"/>
          <a:lstStyle/>
          <a:p>
            <a:pPr marL="0" indent="0" algn="ctr">
              <a:buNone/>
            </a:pPr>
            <a:r>
              <a:rPr lang="en-US" sz="1000" dirty="0">
                <a:solidFill>
                  <a:srgbClr val="1A2B3C"/>
                </a:solidFill>
              </a:rPr>
              <a:t>SCL</a:t>
            </a:r>
            <a:endParaRPr lang="en-US" sz="1000" dirty="0"/>
          </a:p>
        </p:txBody>
      </p:sp>
      <p:sp>
        <p:nvSpPr>
          <p:cNvPr id="27" name="Text 25"/>
          <p:cNvSpPr/>
          <p:nvPr/>
        </p:nvSpPr>
        <p:spPr>
          <a:xfrm>
            <a:off x="2606040" y="2935224"/>
            <a:ext cx="1280160" cy="347472"/>
          </a:xfrm>
          <a:prstGeom prst="rect">
            <a:avLst/>
          </a:prstGeom>
          <a:noFill/>
          <a:ln/>
        </p:spPr>
        <p:txBody>
          <a:bodyPr wrap="square" lIns="0" tIns="0" rIns="0" bIns="0" rtlCol="0" anchor="ctr"/>
          <a:lstStyle/>
          <a:p>
            <a:pPr marL="0" indent="0" algn="ctr">
              <a:buNone/>
            </a:pPr>
            <a:r>
              <a:rPr lang="en-US" sz="1000" dirty="0">
                <a:solidFill>
                  <a:srgbClr val="1A2B3C"/>
                </a:solidFill>
              </a:rPr>
              <a:t>A5</a:t>
            </a:r>
            <a:endParaRPr lang="en-US" sz="1000" dirty="0"/>
          </a:p>
        </p:txBody>
      </p:sp>
      <p:sp>
        <p:nvSpPr>
          <p:cNvPr id="28" name="Shape 26"/>
          <p:cNvSpPr/>
          <p:nvPr/>
        </p:nvSpPr>
        <p:spPr>
          <a:xfrm>
            <a:off x="274320" y="3291840"/>
            <a:ext cx="3657600" cy="347472"/>
          </a:xfrm>
          <a:prstGeom prst="rect">
            <a:avLst/>
          </a:prstGeom>
          <a:solidFill>
            <a:srgbClr val="FFFFFF"/>
          </a:solidFill>
          <a:ln/>
        </p:spPr>
      </p:sp>
      <p:sp>
        <p:nvSpPr>
          <p:cNvPr id="29" name="Text 27"/>
          <p:cNvSpPr/>
          <p:nvPr/>
        </p:nvSpPr>
        <p:spPr>
          <a:xfrm>
            <a:off x="320040" y="3291840"/>
            <a:ext cx="1463040" cy="347472"/>
          </a:xfrm>
          <a:prstGeom prst="rect">
            <a:avLst/>
          </a:prstGeom>
          <a:noFill/>
          <a:ln/>
        </p:spPr>
        <p:txBody>
          <a:bodyPr wrap="square" lIns="0" tIns="0" rIns="0" bIns="0" rtlCol="0" anchor="ctr"/>
          <a:lstStyle/>
          <a:p>
            <a:pPr marL="0" indent="0">
              <a:buNone/>
            </a:pPr>
            <a:r>
              <a:rPr lang="en-US" sz="1000" dirty="0">
                <a:solidFill>
                  <a:srgbClr val="1A2B3C"/>
                </a:solidFill>
              </a:rPr>
              <a:t>ZMPT101B/ACS712</a:t>
            </a:r>
            <a:endParaRPr lang="en-US" sz="1000" dirty="0"/>
          </a:p>
        </p:txBody>
      </p:sp>
      <p:sp>
        <p:nvSpPr>
          <p:cNvPr id="30" name="Text 28"/>
          <p:cNvSpPr/>
          <p:nvPr/>
        </p:nvSpPr>
        <p:spPr>
          <a:xfrm>
            <a:off x="1783080" y="3291840"/>
            <a:ext cx="822960" cy="347472"/>
          </a:xfrm>
          <a:prstGeom prst="rect">
            <a:avLst/>
          </a:prstGeom>
          <a:noFill/>
          <a:ln/>
        </p:spPr>
        <p:txBody>
          <a:bodyPr wrap="square" lIns="0" tIns="0" rIns="0" bIns="0" rtlCol="0" anchor="ctr"/>
          <a:lstStyle/>
          <a:p>
            <a:pPr marL="0" indent="0" algn="ctr">
              <a:buNone/>
            </a:pPr>
            <a:r>
              <a:rPr lang="en-US" sz="1000" dirty="0">
                <a:solidFill>
                  <a:srgbClr val="1A2B3C"/>
                </a:solidFill>
              </a:rPr>
              <a:t>VCC</a:t>
            </a:r>
            <a:endParaRPr lang="en-US" sz="1000" dirty="0"/>
          </a:p>
        </p:txBody>
      </p:sp>
      <p:sp>
        <p:nvSpPr>
          <p:cNvPr id="31" name="Text 29"/>
          <p:cNvSpPr/>
          <p:nvPr/>
        </p:nvSpPr>
        <p:spPr>
          <a:xfrm>
            <a:off x="2606040" y="3291840"/>
            <a:ext cx="1280160" cy="347472"/>
          </a:xfrm>
          <a:prstGeom prst="rect">
            <a:avLst/>
          </a:prstGeom>
          <a:noFill/>
          <a:ln/>
        </p:spPr>
        <p:txBody>
          <a:bodyPr wrap="square" lIns="0" tIns="0" rIns="0" bIns="0" rtlCol="0" anchor="ctr"/>
          <a:lstStyle/>
          <a:p>
            <a:pPr marL="0" indent="0" algn="ctr">
              <a:buNone/>
            </a:pPr>
            <a:r>
              <a:rPr lang="en-US" sz="1000" dirty="0">
                <a:solidFill>
                  <a:srgbClr val="1A2B3C"/>
                </a:solidFill>
              </a:rPr>
              <a:t>5V</a:t>
            </a:r>
            <a:endParaRPr lang="en-US" sz="1000" dirty="0"/>
          </a:p>
        </p:txBody>
      </p:sp>
      <p:sp>
        <p:nvSpPr>
          <p:cNvPr id="32" name="Shape 30"/>
          <p:cNvSpPr/>
          <p:nvPr/>
        </p:nvSpPr>
        <p:spPr>
          <a:xfrm>
            <a:off x="274320" y="3648456"/>
            <a:ext cx="3657600" cy="347472"/>
          </a:xfrm>
          <a:prstGeom prst="rect">
            <a:avLst/>
          </a:prstGeom>
          <a:solidFill>
            <a:srgbClr val="EBF9F7"/>
          </a:solidFill>
          <a:ln/>
        </p:spPr>
      </p:sp>
      <p:sp>
        <p:nvSpPr>
          <p:cNvPr id="33" name="Text 31"/>
          <p:cNvSpPr/>
          <p:nvPr/>
        </p:nvSpPr>
        <p:spPr>
          <a:xfrm>
            <a:off x="320040" y="3648456"/>
            <a:ext cx="1463040" cy="347472"/>
          </a:xfrm>
          <a:prstGeom prst="rect">
            <a:avLst/>
          </a:prstGeom>
          <a:noFill/>
          <a:ln/>
        </p:spPr>
        <p:txBody>
          <a:bodyPr wrap="square" lIns="0" tIns="0" rIns="0" bIns="0" rtlCol="0" anchor="ctr"/>
          <a:lstStyle/>
          <a:p>
            <a:pPr marL="0" indent="0">
              <a:buNone/>
            </a:pPr>
            <a:r>
              <a:rPr lang="en-US" sz="1000" dirty="0">
                <a:solidFill>
                  <a:srgbClr val="1A2B3C"/>
                </a:solidFill>
              </a:rPr>
              <a:t>OLED SSD1306</a:t>
            </a:r>
            <a:endParaRPr lang="en-US" sz="1000" dirty="0"/>
          </a:p>
        </p:txBody>
      </p:sp>
      <p:sp>
        <p:nvSpPr>
          <p:cNvPr id="34" name="Text 32"/>
          <p:cNvSpPr/>
          <p:nvPr/>
        </p:nvSpPr>
        <p:spPr>
          <a:xfrm>
            <a:off x="1783080" y="3648456"/>
            <a:ext cx="822960" cy="347472"/>
          </a:xfrm>
          <a:prstGeom prst="rect">
            <a:avLst/>
          </a:prstGeom>
          <a:noFill/>
          <a:ln/>
        </p:spPr>
        <p:txBody>
          <a:bodyPr wrap="square" lIns="0" tIns="0" rIns="0" bIns="0" rtlCol="0" anchor="ctr"/>
          <a:lstStyle/>
          <a:p>
            <a:pPr marL="0" indent="0" algn="ctr">
              <a:buNone/>
            </a:pPr>
            <a:r>
              <a:rPr lang="en-US" sz="1000" dirty="0">
                <a:solidFill>
                  <a:srgbClr val="1A2B3C"/>
                </a:solidFill>
              </a:rPr>
              <a:t>VCC</a:t>
            </a:r>
            <a:endParaRPr lang="en-US" sz="1000" dirty="0"/>
          </a:p>
        </p:txBody>
      </p:sp>
      <p:sp>
        <p:nvSpPr>
          <p:cNvPr id="35" name="Text 33"/>
          <p:cNvSpPr/>
          <p:nvPr/>
        </p:nvSpPr>
        <p:spPr>
          <a:xfrm>
            <a:off x="2606040" y="3648456"/>
            <a:ext cx="1280160" cy="347472"/>
          </a:xfrm>
          <a:prstGeom prst="rect">
            <a:avLst/>
          </a:prstGeom>
          <a:noFill/>
          <a:ln/>
        </p:spPr>
        <p:txBody>
          <a:bodyPr wrap="square" lIns="0" tIns="0" rIns="0" bIns="0" rtlCol="0" anchor="ctr"/>
          <a:lstStyle/>
          <a:p>
            <a:pPr marL="0" indent="0" algn="ctr">
              <a:buNone/>
            </a:pPr>
            <a:r>
              <a:rPr lang="en-US" sz="1000" dirty="0">
                <a:solidFill>
                  <a:srgbClr val="1A2B3C"/>
                </a:solidFill>
              </a:rPr>
              <a:t>3.3V</a:t>
            </a:r>
            <a:endParaRPr lang="en-US" sz="1000" dirty="0"/>
          </a:p>
        </p:txBody>
      </p:sp>
      <p:sp>
        <p:nvSpPr>
          <p:cNvPr id="36" name="Shape 34"/>
          <p:cNvSpPr/>
          <p:nvPr/>
        </p:nvSpPr>
        <p:spPr>
          <a:xfrm>
            <a:off x="274320" y="4005072"/>
            <a:ext cx="3657600" cy="347472"/>
          </a:xfrm>
          <a:prstGeom prst="rect">
            <a:avLst/>
          </a:prstGeom>
          <a:solidFill>
            <a:srgbClr val="FFFFFF"/>
          </a:solidFill>
          <a:ln/>
        </p:spPr>
      </p:sp>
      <p:sp>
        <p:nvSpPr>
          <p:cNvPr id="37" name="Text 35"/>
          <p:cNvSpPr/>
          <p:nvPr/>
        </p:nvSpPr>
        <p:spPr>
          <a:xfrm>
            <a:off x="320040" y="4005072"/>
            <a:ext cx="1463040" cy="347472"/>
          </a:xfrm>
          <a:prstGeom prst="rect">
            <a:avLst/>
          </a:prstGeom>
          <a:noFill/>
          <a:ln/>
        </p:spPr>
        <p:txBody>
          <a:bodyPr wrap="square" lIns="0" tIns="0" rIns="0" bIns="0" rtlCol="0" anchor="ctr"/>
          <a:lstStyle/>
          <a:p>
            <a:pPr marL="0" indent="0">
              <a:buNone/>
            </a:pPr>
            <a:r>
              <a:rPr lang="en-US" sz="1000" dirty="0">
                <a:solidFill>
                  <a:srgbClr val="1A2B3C"/>
                </a:solidFill>
              </a:rPr>
              <a:t>All Modules</a:t>
            </a:r>
            <a:endParaRPr lang="en-US" sz="1000" dirty="0"/>
          </a:p>
        </p:txBody>
      </p:sp>
      <p:sp>
        <p:nvSpPr>
          <p:cNvPr id="38" name="Text 36"/>
          <p:cNvSpPr/>
          <p:nvPr/>
        </p:nvSpPr>
        <p:spPr>
          <a:xfrm>
            <a:off x="1783080" y="4005072"/>
            <a:ext cx="822960" cy="347472"/>
          </a:xfrm>
          <a:prstGeom prst="rect">
            <a:avLst/>
          </a:prstGeom>
          <a:noFill/>
          <a:ln/>
        </p:spPr>
        <p:txBody>
          <a:bodyPr wrap="square" lIns="0" tIns="0" rIns="0" bIns="0" rtlCol="0" anchor="ctr"/>
          <a:lstStyle/>
          <a:p>
            <a:pPr marL="0" indent="0" algn="ctr">
              <a:buNone/>
            </a:pPr>
            <a:r>
              <a:rPr lang="en-US" sz="1000" dirty="0">
                <a:solidFill>
                  <a:srgbClr val="1A2B3C"/>
                </a:solidFill>
              </a:rPr>
              <a:t>GND</a:t>
            </a:r>
            <a:endParaRPr lang="en-US" sz="1000" dirty="0"/>
          </a:p>
        </p:txBody>
      </p:sp>
      <p:sp>
        <p:nvSpPr>
          <p:cNvPr id="39" name="Text 37"/>
          <p:cNvSpPr/>
          <p:nvPr/>
        </p:nvSpPr>
        <p:spPr>
          <a:xfrm>
            <a:off x="2606040" y="4005072"/>
            <a:ext cx="1280160" cy="347472"/>
          </a:xfrm>
          <a:prstGeom prst="rect">
            <a:avLst/>
          </a:prstGeom>
          <a:noFill/>
          <a:ln/>
        </p:spPr>
        <p:txBody>
          <a:bodyPr wrap="square" lIns="0" tIns="0" rIns="0" bIns="0" rtlCol="0" anchor="ctr"/>
          <a:lstStyle/>
          <a:p>
            <a:pPr marL="0" indent="0" algn="ctr">
              <a:buNone/>
            </a:pPr>
            <a:r>
              <a:rPr lang="en-US" sz="1000" dirty="0">
                <a:solidFill>
                  <a:srgbClr val="1A2B3C"/>
                </a:solidFill>
              </a:rPr>
              <a:t>GND</a:t>
            </a:r>
            <a:endParaRPr lang="en-US" sz="1000" dirty="0"/>
          </a:p>
        </p:txBody>
      </p:sp>
      <p:sp>
        <p:nvSpPr>
          <p:cNvPr id="40" name="Shape 38"/>
          <p:cNvSpPr/>
          <p:nvPr/>
        </p:nvSpPr>
        <p:spPr>
          <a:xfrm>
            <a:off x="4206240" y="1097280"/>
            <a:ext cx="4663440" cy="3474720"/>
          </a:xfrm>
          <a:prstGeom prst="rect">
            <a:avLst/>
          </a:prstGeom>
          <a:solidFill>
            <a:srgbClr val="FFFFFF"/>
          </a:solidFill>
          <a:ln/>
          <a:effectLst>
            <a:outerShdw blurRad="76200" dist="25400" dir="8100000" algn="bl" rotWithShape="0">
              <a:srgbClr val="000000">
                <a:alpha val="10000"/>
              </a:srgbClr>
            </a:outerShdw>
          </a:effectLst>
        </p:spPr>
      </p:sp>
      <p:sp>
        <p:nvSpPr>
          <p:cNvPr id="41" name="Shape 39"/>
          <p:cNvSpPr/>
          <p:nvPr/>
        </p:nvSpPr>
        <p:spPr>
          <a:xfrm>
            <a:off x="4206240" y="1097280"/>
            <a:ext cx="4663440" cy="347472"/>
          </a:xfrm>
          <a:prstGeom prst="rect">
            <a:avLst/>
          </a:prstGeom>
          <a:solidFill>
            <a:srgbClr val="0A1628"/>
          </a:solidFill>
          <a:ln/>
        </p:spPr>
      </p:sp>
      <p:sp>
        <p:nvSpPr>
          <p:cNvPr id="42" name="Text 40"/>
          <p:cNvSpPr/>
          <p:nvPr/>
        </p:nvSpPr>
        <p:spPr>
          <a:xfrm>
            <a:off x="4297680" y="1124712"/>
            <a:ext cx="4480560" cy="274320"/>
          </a:xfrm>
          <a:prstGeom prst="rect">
            <a:avLst/>
          </a:prstGeom>
          <a:noFill/>
          <a:ln/>
        </p:spPr>
        <p:txBody>
          <a:bodyPr wrap="square" lIns="0" tIns="0" rIns="0" bIns="0" rtlCol="0" anchor="ctr"/>
          <a:lstStyle/>
          <a:p>
            <a:pPr marL="0" indent="0">
              <a:buNone/>
            </a:pPr>
            <a:r>
              <a:rPr lang="en-US" sz="1300" b="1" dirty="0">
                <a:solidFill>
                  <a:srgbClr val="FFFFFF"/>
                </a:solidFill>
              </a:rPr>
              <a:t>Design Considerations</a:t>
            </a:r>
            <a:endParaRPr lang="en-US" sz="1300" dirty="0"/>
          </a:p>
        </p:txBody>
      </p:sp>
      <p:sp>
        <p:nvSpPr>
          <p:cNvPr id="43" name="Text 41"/>
          <p:cNvSpPr/>
          <p:nvPr/>
        </p:nvSpPr>
        <p:spPr>
          <a:xfrm>
            <a:off x="4343400" y="1554480"/>
            <a:ext cx="411480" cy="5943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4" name="Text 42"/>
          <p:cNvSpPr/>
          <p:nvPr/>
        </p:nvSpPr>
        <p:spPr>
          <a:xfrm>
            <a:off x="4800600" y="1554480"/>
            <a:ext cx="3931920" cy="256032"/>
          </a:xfrm>
          <a:prstGeom prst="rect">
            <a:avLst/>
          </a:prstGeom>
          <a:noFill/>
          <a:ln/>
        </p:spPr>
        <p:txBody>
          <a:bodyPr wrap="square" lIns="0" tIns="0" rIns="0" bIns="0" rtlCol="0" anchor="ctr"/>
          <a:lstStyle/>
          <a:p>
            <a:pPr marL="0" indent="0">
              <a:buNone/>
            </a:pPr>
            <a:r>
              <a:rPr lang="en-US" sz="1150" b="1" dirty="0">
                <a:solidFill>
                  <a:srgbClr val="0A1628"/>
                </a:solidFill>
              </a:rPr>
              <a:t>Safety &amp; Isolation</a:t>
            </a:r>
            <a:endParaRPr lang="en-US" sz="1150" dirty="0"/>
          </a:p>
        </p:txBody>
      </p:sp>
      <p:sp>
        <p:nvSpPr>
          <p:cNvPr id="45" name="Text 43"/>
          <p:cNvSpPr/>
          <p:nvPr/>
        </p:nvSpPr>
        <p:spPr>
          <a:xfrm>
            <a:off x="4800600" y="1810512"/>
            <a:ext cx="3931920" cy="411480"/>
          </a:xfrm>
          <a:prstGeom prst="rect">
            <a:avLst/>
          </a:prstGeom>
          <a:noFill/>
          <a:ln/>
        </p:spPr>
        <p:txBody>
          <a:bodyPr wrap="square" lIns="0" tIns="0" rIns="0" bIns="0" rtlCol="0" anchor="ctr"/>
          <a:lstStyle/>
          <a:p>
            <a:pPr marL="0" indent="0">
              <a:buNone/>
            </a:pPr>
            <a:r>
              <a:rPr lang="en-US" sz="1050" dirty="0">
                <a:solidFill>
                  <a:srgbClr val="64748B"/>
                </a:solidFill>
              </a:rPr>
              <a:t>ZMPT101B &amp; ACS712 provide galvanic isolation from mains — microcontroller is fully protected.</a:t>
            </a:r>
            <a:endParaRPr lang="en-US" sz="1050" dirty="0"/>
          </a:p>
        </p:txBody>
      </p:sp>
      <p:sp>
        <p:nvSpPr>
          <p:cNvPr id="46" name="Text 44"/>
          <p:cNvSpPr/>
          <p:nvPr/>
        </p:nvSpPr>
        <p:spPr>
          <a:xfrm>
            <a:off x="4343400" y="2267712"/>
            <a:ext cx="411480" cy="5943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7" name="Text 45"/>
          <p:cNvSpPr/>
          <p:nvPr/>
        </p:nvSpPr>
        <p:spPr>
          <a:xfrm>
            <a:off x="4800600" y="2267712"/>
            <a:ext cx="3931920" cy="256032"/>
          </a:xfrm>
          <a:prstGeom prst="rect">
            <a:avLst/>
          </a:prstGeom>
          <a:noFill/>
          <a:ln/>
        </p:spPr>
        <p:txBody>
          <a:bodyPr wrap="square" lIns="0" tIns="0" rIns="0" bIns="0" rtlCol="0" anchor="ctr"/>
          <a:lstStyle/>
          <a:p>
            <a:pPr marL="0" indent="0">
              <a:buNone/>
            </a:pPr>
            <a:r>
              <a:rPr lang="en-US" sz="1150" b="1" dirty="0">
                <a:solidFill>
                  <a:srgbClr val="0A1628"/>
                </a:solidFill>
              </a:rPr>
              <a:t>ADC Reference</a:t>
            </a:r>
            <a:endParaRPr lang="en-US" sz="1150" dirty="0"/>
          </a:p>
        </p:txBody>
      </p:sp>
      <p:sp>
        <p:nvSpPr>
          <p:cNvPr id="48" name="Text 46"/>
          <p:cNvSpPr/>
          <p:nvPr/>
        </p:nvSpPr>
        <p:spPr>
          <a:xfrm>
            <a:off x="4800600" y="2523744"/>
            <a:ext cx="3931920" cy="411480"/>
          </a:xfrm>
          <a:prstGeom prst="rect">
            <a:avLst/>
          </a:prstGeom>
          <a:noFill/>
          <a:ln/>
        </p:spPr>
        <p:txBody>
          <a:bodyPr wrap="square" lIns="0" tIns="0" rIns="0" bIns="0" rtlCol="0" anchor="ctr"/>
          <a:lstStyle/>
          <a:p>
            <a:pPr marL="0" indent="0">
              <a:buNone/>
            </a:pPr>
            <a:r>
              <a:rPr lang="en-US" sz="1050" dirty="0">
                <a:solidFill>
                  <a:srgbClr val="64748B"/>
                </a:solidFill>
              </a:rPr>
              <a:t>Both sensors biased at 2.5V offset, fitting the 0–5V ADC range without signal clipping.</a:t>
            </a:r>
            <a:endParaRPr lang="en-US" sz="1050" dirty="0"/>
          </a:p>
        </p:txBody>
      </p:sp>
      <p:sp>
        <p:nvSpPr>
          <p:cNvPr id="49" name="Text 47"/>
          <p:cNvSpPr/>
          <p:nvPr/>
        </p:nvSpPr>
        <p:spPr>
          <a:xfrm>
            <a:off x="4343400" y="2980944"/>
            <a:ext cx="411480" cy="5943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50" name="Text 48"/>
          <p:cNvSpPr/>
          <p:nvPr/>
        </p:nvSpPr>
        <p:spPr>
          <a:xfrm>
            <a:off x="4800600" y="2980944"/>
            <a:ext cx="3931920" cy="256032"/>
          </a:xfrm>
          <a:prstGeom prst="rect">
            <a:avLst/>
          </a:prstGeom>
          <a:noFill/>
          <a:ln/>
        </p:spPr>
        <p:txBody>
          <a:bodyPr wrap="square" lIns="0" tIns="0" rIns="0" bIns="0" rtlCol="0" anchor="ctr"/>
          <a:lstStyle/>
          <a:p>
            <a:pPr marL="0" indent="0">
              <a:buNone/>
            </a:pPr>
            <a:r>
              <a:rPr lang="en-US" sz="1150" b="1" dirty="0">
                <a:solidFill>
                  <a:srgbClr val="0A1628"/>
                </a:solidFill>
              </a:rPr>
              <a:t>Noise Filtering</a:t>
            </a:r>
            <a:endParaRPr lang="en-US" sz="1150" dirty="0"/>
          </a:p>
        </p:txBody>
      </p:sp>
      <p:sp>
        <p:nvSpPr>
          <p:cNvPr id="51" name="Text 49"/>
          <p:cNvSpPr/>
          <p:nvPr/>
        </p:nvSpPr>
        <p:spPr>
          <a:xfrm>
            <a:off x="4800600" y="3236976"/>
            <a:ext cx="3931920" cy="411480"/>
          </a:xfrm>
          <a:prstGeom prst="rect">
            <a:avLst/>
          </a:prstGeom>
          <a:noFill/>
          <a:ln/>
        </p:spPr>
        <p:txBody>
          <a:bodyPr wrap="square" lIns="0" tIns="0" rIns="0" bIns="0" rtlCol="0" anchor="ctr"/>
          <a:lstStyle/>
          <a:p>
            <a:pPr marL="0" indent="0">
              <a:buNone/>
            </a:pPr>
            <a:r>
              <a:rPr lang="en-US" sz="1050" dirty="0">
                <a:solidFill>
                  <a:srgbClr val="64748B"/>
                </a:solidFill>
              </a:rPr>
              <a:t>100µF cap on ZMPT101B output and 10nF on ACS712 FILTER pin reduce switching noise.</a:t>
            </a:r>
            <a:endParaRPr lang="en-US" sz="1050" dirty="0"/>
          </a:p>
        </p:txBody>
      </p:sp>
      <p:sp>
        <p:nvSpPr>
          <p:cNvPr id="52" name="Text 50"/>
          <p:cNvSpPr/>
          <p:nvPr/>
        </p:nvSpPr>
        <p:spPr>
          <a:xfrm>
            <a:off x="4343400" y="3694176"/>
            <a:ext cx="411480" cy="5943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53" name="Text 51"/>
          <p:cNvSpPr/>
          <p:nvPr/>
        </p:nvSpPr>
        <p:spPr>
          <a:xfrm>
            <a:off x="4800600" y="3694176"/>
            <a:ext cx="3931920" cy="256032"/>
          </a:xfrm>
          <a:prstGeom prst="rect">
            <a:avLst/>
          </a:prstGeom>
          <a:noFill/>
          <a:ln/>
        </p:spPr>
        <p:txBody>
          <a:bodyPr wrap="square" lIns="0" tIns="0" rIns="0" bIns="0" rtlCol="0" anchor="ctr"/>
          <a:lstStyle/>
          <a:p>
            <a:pPr marL="0" indent="0">
              <a:buNone/>
            </a:pPr>
            <a:r>
              <a:rPr lang="en-US" sz="1150" b="1" dirty="0">
                <a:solidFill>
                  <a:srgbClr val="0A1628"/>
                </a:solidFill>
              </a:rPr>
              <a:t>Cost Efficiency</a:t>
            </a:r>
            <a:endParaRPr lang="en-US" sz="1150" dirty="0"/>
          </a:p>
        </p:txBody>
      </p:sp>
      <p:sp>
        <p:nvSpPr>
          <p:cNvPr id="54" name="Text 52"/>
          <p:cNvSpPr/>
          <p:nvPr/>
        </p:nvSpPr>
        <p:spPr>
          <a:xfrm>
            <a:off x="4800600" y="3950208"/>
            <a:ext cx="3931920" cy="411480"/>
          </a:xfrm>
          <a:prstGeom prst="rect">
            <a:avLst/>
          </a:prstGeom>
          <a:noFill/>
          <a:ln/>
        </p:spPr>
        <p:txBody>
          <a:bodyPr wrap="square" lIns="0" tIns="0" rIns="0" bIns="0" rtlCol="0" anchor="ctr"/>
          <a:lstStyle/>
          <a:p>
            <a:pPr marL="0" indent="0">
              <a:buNone/>
            </a:pPr>
            <a:r>
              <a:rPr lang="en-US" sz="1050" dirty="0">
                <a:solidFill>
                  <a:srgbClr val="64748B"/>
                </a:solidFill>
              </a:rPr>
              <a:t>All components are off-the-shelf. Total BOM cost: ₹500–₹700 only.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Shape 1"/>
          <p:cNvSpPr/>
          <p:nvPr/>
        </p:nvSpPr>
        <p:spPr>
          <a:xfrm>
            <a:off x="0" y="914400"/>
            <a:ext cx="9144000" cy="54864"/>
          </a:xfrm>
          <a:prstGeom prst="rect">
            <a:avLst/>
          </a:prstGeom>
          <a:solidFill>
            <a:srgbClr val="00BFA6"/>
          </a:solidFill>
          <a:ln/>
        </p:spPr>
      </p:sp>
      <p:sp>
        <p:nvSpPr>
          <p:cNvPr id="4" name="Text 2"/>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Software Design &amp; Implementation</a:t>
            </a:r>
            <a:endParaRPr lang="en-US" sz="2600" dirty="0"/>
          </a:p>
        </p:txBody>
      </p:sp>
      <p:sp>
        <p:nvSpPr>
          <p:cNvPr id="5" name="Shape 3"/>
          <p:cNvSpPr/>
          <p:nvPr/>
        </p:nvSpPr>
        <p:spPr>
          <a:xfrm>
            <a:off x="274320" y="1097280"/>
            <a:ext cx="3566160" cy="365760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274320" y="1097280"/>
            <a:ext cx="3566160" cy="347472"/>
          </a:xfrm>
          <a:prstGeom prst="rect">
            <a:avLst/>
          </a:prstGeom>
          <a:solidFill>
            <a:srgbClr val="00BFA6"/>
          </a:solidFill>
          <a:ln/>
        </p:spPr>
      </p:sp>
      <p:sp>
        <p:nvSpPr>
          <p:cNvPr id="7" name="Text 5"/>
          <p:cNvSpPr/>
          <p:nvPr/>
        </p:nvSpPr>
        <p:spPr>
          <a:xfrm>
            <a:off x="365760" y="1124712"/>
            <a:ext cx="3383280" cy="274320"/>
          </a:xfrm>
          <a:prstGeom prst="rect">
            <a:avLst/>
          </a:prstGeom>
          <a:noFill/>
          <a:ln/>
        </p:spPr>
        <p:txBody>
          <a:bodyPr wrap="square" lIns="0" tIns="0" rIns="0" bIns="0" rtlCol="0" anchor="ctr"/>
          <a:lstStyle/>
          <a:p>
            <a:pPr marL="0" indent="0">
              <a:buNone/>
            </a:pPr>
            <a:r>
              <a:rPr lang="en-US" sz="1300" b="1" dirty="0">
                <a:solidFill>
                  <a:srgbClr val="0A1628"/>
                </a:solidFill>
              </a:rPr>
              <a:t>🛠 Tools Used</a:t>
            </a:r>
            <a:endParaRPr lang="en-US" sz="1300" dirty="0"/>
          </a:p>
        </p:txBody>
      </p:sp>
      <p:sp>
        <p:nvSpPr>
          <p:cNvPr id="8" name="Text 6"/>
          <p:cNvSpPr/>
          <p:nvPr/>
        </p:nvSpPr>
        <p:spPr>
          <a:xfrm>
            <a:off x="365760" y="1508760"/>
            <a:ext cx="3337560" cy="3108960"/>
          </a:xfrm>
          <a:prstGeom prst="rect">
            <a:avLst/>
          </a:prstGeom>
          <a:noFill/>
          <a:ln/>
        </p:spPr>
        <p:txBody>
          <a:bodyPr wrap="square" rtlCol="0" anchor="ctr"/>
          <a:lstStyle/>
          <a:p>
            <a:pPr marL="342900" indent="-342900">
              <a:spcAft>
                <a:spcPts val="600"/>
              </a:spcAft>
              <a:buSzPct val="100000"/>
              <a:buChar char="•"/>
            </a:pPr>
            <a:r>
              <a:rPr lang="en-US" sz="1200" dirty="0">
                <a:solidFill>
                  <a:srgbClr val="1A2B3C"/>
                </a:solidFill>
              </a:rPr>
              <a:t>Arduino IDE v2.x — compile &amp; upload firmware</a:t>
            </a:r>
            <a:endParaRPr lang="en-US" sz="1200" dirty="0"/>
          </a:p>
          <a:p>
            <a:pPr marL="342900" indent="-342900">
              <a:spcAft>
                <a:spcPts val="600"/>
              </a:spcAft>
              <a:buSzPct val="100000"/>
              <a:buChar char="•"/>
            </a:pPr>
            <a:r>
              <a:rPr lang="en-US" sz="1200" dirty="0">
                <a:solidFill>
                  <a:srgbClr val="1A2B3C"/>
                </a:solidFill>
              </a:rPr>
              <a:t>Embedded C / Arduino C++ — programming language</a:t>
            </a:r>
            <a:endParaRPr lang="en-US" sz="1200" dirty="0"/>
          </a:p>
          <a:p>
            <a:pPr marL="342900" indent="-342900">
              <a:spcAft>
                <a:spcPts val="600"/>
              </a:spcAft>
              <a:buSzPct val="100000"/>
              <a:buChar char="•"/>
            </a:pPr>
            <a:r>
              <a:rPr lang="en-US" sz="1200" dirty="0">
                <a:solidFill>
                  <a:srgbClr val="1A2B3C"/>
                </a:solidFill>
              </a:rPr>
              <a:t>Adafruit SSD1306 &amp; GFX Library — OLED driver</a:t>
            </a:r>
            <a:endParaRPr lang="en-US" sz="1200" dirty="0"/>
          </a:p>
          <a:p>
            <a:pPr marL="342900" indent="-342900">
              <a:spcAft>
                <a:spcPts val="600"/>
              </a:spcAft>
              <a:buSzPct val="100000"/>
              <a:buChar char="•"/>
            </a:pPr>
            <a:r>
              <a:rPr lang="en-US" sz="1200" dirty="0">
                <a:solidFill>
                  <a:srgbClr val="1A2B3C"/>
                </a:solidFill>
              </a:rPr>
              <a:t>Proteus 8 Professional — circuit simulation</a:t>
            </a:r>
            <a:endParaRPr lang="en-US" sz="1200" dirty="0"/>
          </a:p>
          <a:p>
            <a:pPr marL="342900" indent="-342900">
              <a:spcAft>
                <a:spcPts val="600"/>
              </a:spcAft>
              <a:buSzPct val="100000"/>
              <a:buChar char="•"/>
            </a:pPr>
            <a:r>
              <a:rPr lang="en-US" sz="1200" dirty="0">
                <a:solidFill>
                  <a:srgbClr val="1A2B3C"/>
                </a:solidFill>
              </a:rPr>
              <a:t>Serial Monitor — debugging &amp; calibration</a:t>
            </a:r>
            <a:endParaRPr lang="en-US" sz="1200" dirty="0"/>
          </a:p>
        </p:txBody>
      </p:sp>
      <p:sp>
        <p:nvSpPr>
          <p:cNvPr id="9" name="Shape 7"/>
          <p:cNvSpPr/>
          <p:nvPr/>
        </p:nvSpPr>
        <p:spPr>
          <a:xfrm>
            <a:off x="4114800" y="1097280"/>
            <a:ext cx="4754880" cy="3657600"/>
          </a:xfrm>
          <a:prstGeom prst="rect">
            <a:avLst/>
          </a:prstGeom>
          <a:solidFill>
            <a:srgbClr val="1E2D3D"/>
          </a:solidFill>
          <a:ln/>
          <a:effectLst>
            <a:outerShdw blurRad="76200" dist="25400" dir="8100000" algn="bl" rotWithShape="0">
              <a:srgbClr val="000000">
                <a:alpha val="10000"/>
              </a:srgbClr>
            </a:outerShdw>
          </a:effectLst>
        </p:spPr>
      </p:sp>
      <p:sp>
        <p:nvSpPr>
          <p:cNvPr id="10" name="Shape 8"/>
          <p:cNvSpPr/>
          <p:nvPr/>
        </p:nvSpPr>
        <p:spPr>
          <a:xfrm>
            <a:off x="4114800" y="1097280"/>
            <a:ext cx="4754880" cy="347472"/>
          </a:xfrm>
          <a:prstGeom prst="rect">
            <a:avLst/>
          </a:prstGeom>
          <a:solidFill>
            <a:srgbClr val="0A1628"/>
          </a:solidFill>
          <a:ln/>
        </p:spPr>
      </p:sp>
      <p:sp>
        <p:nvSpPr>
          <p:cNvPr id="11" name="Text 9"/>
          <p:cNvSpPr/>
          <p:nvPr/>
        </p:nvSpPr>
        <p:spPr>
          <a:xfrm>
            <a:off x="4206240" y="1124712"/>
            <a:ext cx="4572000" cy="274320"/>
          </a:xfrm>
          <a:prstGeom prst="rect">
            <a:avLst/>
          </a:prstGeom>
          <a:noFill/>
          <a:ln/>
        </p:spPr>
        <p:txBody>
          <a:bodyPr wrap="square" lIns="0" tIns="0" rIns="0" bIns="0" rtlCol="0" anchor="ctr"/>
          <a:lstStyle/>
          <a:p>
            <a:pPr marL="0" indent="0">
              <a:buNone/>
            </a:pPr>
            <a:r>
              <a:rPr lang="en-US" sz="1300" b="1" dirty="0">
                <a:solidFill>
                  <a:srgbClr val="FFFFFF"/>
                </a:solidFill>
              </a:rPr>
              <a:t>📄 Core Firmware Logic</a:t>
            </a:r>
            <a:endParaRPr lang="en-US" sz="1300" dirty="0"/>
          </a:p>
        </p:txBody>
      </p:sp>
      <p:sp>
        <p:nvSpPr>
          <p:cNvPr id="12" name="Text 10"/>
          <p:cNvSpPr/>
          <p:nvPr/>
        </p:nvSpPr>
        <p:spPr>
          <a:xfrm>
            <a:off x="4206240" y="1536192"/>
            <a:ext cx="4572000" cy="3090672"/>
          </a:xfrm>
          <a:prstGeom prst="rect">
            <a:avLst/>
          </a:prstGeom>
          <a:noFill/>
          <a:ln/>
        </p:spPr>
        <p:txBody>
          <a:bodyPr wrap="square" lIns="0" tIns="0" rIns="0" bIns="0" rtlCol="0" anchor="t"/>
          <a:lstStyle/>
          <a:p>
            <a:pPr marL="0" indent="0">
              <a:buNone/>
            </a:pPr>
            <a:r>
              <a:rPr lang="en-US" sz="1100" dirty="0">
                <a:solidFill>
                  <a:srgbClr val="00E5CC"/>
                </a:solidFill>
                <a:latin typeface="Consolas" pitchFamily="34" charset="0"/>
                <a:ea typeface="Consolas" pitchFamily="34" charset="-122"/>
                <a:cs typeface="Consolas" pitchFamily="34" charset="-120"/>
              </a:rPr>
              <a:t>double sumV = 0, sumI = 0;</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for (int i = 0; i &lt; 1000; i++) {</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  double v = (analogRead(A0)*5.0/1023.0 - 2.5)</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             * vCal;</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  double c = (analogRead(A1)*5.0/1023.0 - 2.5)</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             / 0.185;</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  sumV += v * v;</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  sumI += c * c;</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float Vrms  = sqrt(sumV / 1000);</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float Irms  = sqrt(sumI / 1000);</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float Power = Vrms * Irms;</a:t>
            </a:r>
            <a:endParaRPr lang="en-US" sz="1100" dirty="0"/>
          </a:p>
          <a:p>
            <a:pPr marL="0" indent="0">
              <a:buNone/>
            </a:pPr>
            <a:r>
              <a:rPr lang="en-US" sz="1100" dirty="0">
                <a:solidFill>
                  <a:srgbClr val="00E5CC"/>
                </a:solidFill>
                <a:latin typeface="Consolas" pitchFamily="34" charset="0"/>
                <a:ea typeface="Consolas" pitchFamily="34" charset="-122"/>
                <a:cs typeface="Consolas" pitchFamily="34" charset="-120"/>
              </a:rPr>
              <a:t>// Display refreshed every 1 s via millis()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Shape 1"/>
          <p:cNvSpPr/>
          <p:nvPr/>
        </p:nvSpPr>
        <p:spPr>
          <a:xfrm>
            <a:off x="0" y="914400"/>
            <a:ext cx="9144000" cy="54864"/>
          </a:xfrm>
          <a:prstGeom prst="rect">
            <a:avLst/>
          </a:prstGeom>
          <a:solidFill>
            <a:srgbClr val="00BFA6"/>
          </a:solidFill>
          <a:ln/>
        </p:spPr>
      </p:sp>
      <p:sp>
        <p:nvSpPr>
          <p:cNvPr id="4" name="Text 2"/>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Testing &amp; Results</a:t>
            </a:r>
            <a:endParaRPr lang="en-US" sz="2600" dirty="0"/>
          </a:p>
        </p:txBody>
      </p:sp>
      <p:sp>
        <p:nvSpPr>
          <p:cNvPr id="5" name="Shape 3"/>
          <p:cNvSpPr/>
          <p:nvPr/>
        </p:nvSpPr>
        <p:spPr>
          <a:xfrm>
            <a:off x="274320" y="1097280"/>
            <a:ext cx="8595360" cy="219456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274320" y="1097280"/>
            <a:ext cx="2377440" cy="365760"/>
          </a:xfrm>
          <a:prstGeom prst="rect">
            <a:avLst/>
          </a:prstGeom>
          <a:solidFill>
            <a:srgbClr val="0A1628"/>
          </a:solidFill>
          <a:ln/>
        </p:spPr>
      </p:sp>
      <p:sp>
        <p:nvSpPr>
          <p:cNvPr id="7" name="Text 5"/>
          <p:cNvSpPr/>
          <p:nvPr/>
        </p:nvSpPr>
        <p:spPr>
          <a:xfrm>
            <a:off x="320040" y="1097280"/>
            <a:ext cx="2286000" cy="365760"/>
          </a:xfrm>
          <a:prstGeom prst="rect">
            <a:avLst/>
          </a:prstGeom>
          <a:noFill/>
          <a:ln/>
        </p:spPr>
        <p:txBody>
          <a:bodyPr wrap="square" lIns="0" tIns="0" rIns="0" bIns="0" rtlCol="0" anchor="ctr"/>
          <a:lstStyle/>
          <a:p>
            <a:pPr marL="0" indent="0" algn="ctr">
              <a:buNone/>
            </a:pPr>
            <a:r>
              <a:rPr lang="en-US" sz="1200" b="1" dirty="0">
                <a:solidFill>
                  <a:srgbClr val="FFFFFF"/>
                </a:solidFill>
              </a:rPr>
              <a:t>Parameter</a:t>
            </a:r>
            <a:endParaRPr lang="en-US" sz="1200" dirty="0"/>
          </a:p>
        </p:txBody>
      </p:sp>
      <p:sp>
        <p:nvSpPr>
          <p:cNvPr id="8" name="Shape 6"/>
          <p:cNvSpPr/>
          <p:nvPr/>
        </p:nvSpPr>
        <p:spPr>
          <a:xfrm>
            <a:off x="2651760" y="1097280"/>
            <a:ext cx="2011680" cy="365760"/>
          </a:xfrm>
          <a:prstGeom prst="rect">
            <a:avLst/>
          </a:prstGeom>
          <a:solidFill>
            <a:srgbClr val="0A1628"/>
          </a:solidFill>
          <a:ln/>
        </p:spPr>
      </p:sp>
      <p:sp>
        <p:nvSpPr>
          <p:cNvPr id="9" name="Text 7"/>
          <p:cNvSpPr/>
          <p:nvPr/>
        </p:nvSpPr>
        <p:spPr>
          <a:xfrm>
            <a:off x="2697480" y="1097280"/>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rPr>
              <a:t>Measured Value</a:t>
            </a:r>
            <a:endParaRPr lang="en-US" sz="1200" dirty="0"/>
          </a:p>
        </p:txBody>
      </p:sp>
      <p:sp>
        <p:nvSpPr>
          <p:cNvPr id="10" name="Shape 8"/>
          <p:cNvSpPr/>
          <p:nvPr/>
        </p:nvSpPr>
        <p:spPr>
          <a:xfrm>
            <a:off x="4663440" y="1097280"/>
            <a:ext cx="2011680" cy="365760"/>
          </a:xfrm>
          <a:prstGeom prst="rect">
            <a:avLst/>
          </a:prstGeom>
          <a:solidFill>
            <a:srgbClr val="0A1628"/>
          </a:solidFill>
          <a:ln/>
        </p:spPr>
      </p:sp>
      <p:sp>
        <p:nvSpPr>
          <p:cNvPr id="11" name="Text 9"/>
          <p:cNvSpPr/>
          <p:nvPr/>
        </p:nvSpPr>
        <p:spPr>
          <a:xfrm>
            <a:off x="4709160" y="1097280"/>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rPr>
              <a:t>Actual Value</a:t>
            </a:r>
            <a:endParaRPr lang="en-US" sz="1200" dirty="0"/>
          </a:p>
        </p:txBody>
      </p:sp>
      <p:sp>
        <p:nvSpPr>
          <p:cNvPr id="12" name="Shape 10"/>
          <p:cNvSpPr/>
          <p:nvPr/>
        </p:nvSpPr>
        <p:spPr>
          <a:xfrm>
            <a:off x="6675120" y="1097280"/>
            <a:ext cx="2194560" cy="365760"/>
          </a:xfrm>
          <a:prstGeom prst="rect">
            <a:avLst/>
          </a:prstGeom>
          <a:solidFill>
            <a:srgbClr val="0A1628"/>
          </a:solidFill>
          <a:ln/>
        </p:spPr>
      </p:sp>
      <p:sp>
        <p:nvSpPr>
          <p:cNvPr id="13" name="Text 11"/>
          <p:cNvSpPr/>
          <p:nvPr/>
        </p:nvSpPr>
        <p:spPr>
          <a:xfrm>
            <a:off x="6720840" y="1097280"/>
            <a:ext cx="2103120" cy="365760"/>
          </a:xfrm>
          <a:prstGeom prst="rect">
            <a:avLst/>
          </a:prstGeom>
          <a:noFill/>
          <a:ln/>
        </p:spPr>
        <p:txBody>
          <a:bodyPr wrap="square" lIns="0" tIns="0" rIns="0" bIns="0" rtlCol="0" anchor="ctr"/>
          <a:lstStyle/>
          <a:p>
            <a:pPr marL="0" indent="0" algn="ctr">
              <a:buNone/>
            </a:pPr>
            <a:r>
              <a:rPr lang="en-US" sz="1200" b="1" dirty="0">
                <a:solidFill>
                  <a:srgbClr val="FFFFFF"/>
                </a:solidFill>
              </a:rPr>
              <a:t>Error (%)</a:t>
            </a:r>
            <a:endParaRPr lang="en-US" sz="1200" dirty="0"/>
          </a:p>
        </p:txBody>
      </p:sp>
      <p:sp>
        <p:nvSpPr>
          <p:cNvPr id="14" name="Shape 12"/>
          <p:cNvSpPr/>
          <p:nvPr/>
        </p:nvSpPr>
        <p:spPr>
          <a:xfrm>
            <a:off x="274320" y="1463040"/>
            <a:ext cx="2377440" cy="438912"/>
          </a:xfrm>
          <a:prstGeom prst="rect">
            <a:avLst/>
          </a:prstGeom>
          <a:solidFill>
            <a:srgbClr val="EBF9F7"/>
          </a:solidFill>
          <a:ln/>
        </p:spPr>
      </p:sp>
      <p:sp>
        <p:nvSpPr>
          <p:cNvPr id="15" name="Text 13"/>
          <p:cNvSpPr/>
          <p:nvPr/>
        </p:nvSpPr>
        <p:spPr>
          <a:xfrm>
            <a:off x="320040" y="1463040"/>
            <a:ext cx="2286000" cy="438912"/>
          </a:xfrm>
          <a:prstGeom prst="rect">
            <a:avLst/>
          </a:prstGeom>
          <a:noFill/>
          <a:ln/>
        </p:spPr>
        <p:txBody>
          <a:bodyPr wrap="square" lIns="0" tIns="0" rIns="0" bIns="0" rtlCol="0" anchor="ctr"/>
          <a:lstStyle/>
          <a:p>
            <a:pPr marL="0" indent="0" algn="ctr">
              <a:buNone/>
            </a:pPr>
            <a:r>
              <a:rPr lang="en-US" sz="1250" dirty="0">
                <a:solidFill>
                  <a:srgbClr val="1A2B3C"/>
                </a:solidFill>
              </a:rPr>
              <a:t>Voltage</a:t>
            </a:r>
            <a:endParaRPr lang="en-US" sz="1250" dirty="0"/>
          </a:p>
        </p:txBody>
      </p:sp>
      <p:sp>
        <p:nvSpPr>
          <p:cNvPr id="16" name="Shape 14"/>
          <p:cNvSpPr/>
          <p:nvPr/>
        </p:nvSpPr>
        <p:spPr>
          <a:xfrm>
            <a:off x="2651760" y="1463040"/>
            <a:ext cx="2011680" cy="438912"/>
          </a:xfrm>
          <a:prstGeom prst="rect">
            <a:avLst/>
          </a:prstGeom>
          <a:solidFill>
            <a:srgbClr val="EBF9F7"/>
          </a:solidFill>
          <a:ln/>
        </p:spPr>
      </p:sp>
      <p:sp>
        <p:nvSpPr>
          <p:cNvPr id="17" name="Text 15"/>
          <p:cNvSpPr/>
          <p:nvPr/>
        </p:nvSpPr>
        <p:spPr>
          <a:xfrm>
            <a:off x="2697480" y="1463040"/>
            <a:ext cx="1920240" cy="438912"/>
          </a:xfrm>
          <a:prstGeom prst="rect">
            <a:avLst/>
          </a:prstGeom>
          <a:noFill/>
          <a:ln/>
        </p:spPr>
        <p:txBody>
          <a:bodyPr wrap="square" lIns="0" tIns="0" rIns="0" bIns="0" rtlCol="0" anchor="ctr"/>
          <a:lstStyle/>
          <a:p>
            <a:pPr marL="0" indent="0" algn="ctr">
              <a:buNone/>
            </a:pPr>
            <a:r>
              <a:rPr lang="en-US" sz="1250" dirty="0">
                <a:solidFill>
                  <a:srgbClr val="1A2B3C"/>
                </a:solidFill>
              </a:rPr>
              <a:t>219.4 V</a:t>
            </a:r>
            <a:endParaRPr lang="en-US" sz="1250" dirty="0"/>
          </a:p>
        </p:txBody>
      </p:sp>
      <p:sp>
        <p:nvSpPr>
          <p:cNvPr id="18" name="Shape 16"/>
          <p:cNvSpPr/>
          <p:nvPr/>
        </p:nvSpPr>
        <p:spPr>
          <a:xfrm>
            <a:off x="4663440" y="1463040"/>
            <a:ext cx="2011680" cy="438912"/>
          </a:xfrm>
          <a:prstGeom prst="rect">
            <a:avLst/>
          </a:prstGeom>
          <a:solidFill>
            <a:srgbClr val="EBF9F7"/>
          </a:solidFill>
          <a:ln/>
        </p:spPr>
      </p:sp>
      <p:sp>
        <p:nvSpPr>
          <p:cNvPr id="19" name="Text 17"/>
          <p:cNvSpPr/>
          <p:nvPr/>
        </p:nvSpPr>
        <p:spPr>
          <a:xfrm>
            <a:off x="4709160" y="1463040"/>
            <a:ext cx="1920240" cy="438912"/>
          </a:xfrm>
          <a:prstGeom prst="rect">
            <a:avLst/>
          </a:prstGeom>
          <a:noFill/>
          <a:ln/>
        </p:spPr>
        <p:txBody>
          <a:bodyPr wrap="square" lIns="0" tIns="0" rIns="0" bIns="0" rtlCol="0" anchor="ctr"/>
          <a:lstStyle/>
          <a:p>
            <a:pPr marL="0" indent="0" algn="ctr">
              <a:buNone/>
            </a:pPr>
            <a:r>
              <a:rPr lang="en-US" sz="1250" dirty="0">
                <a:solidFill>
                  <a:srgbClr val="1A2B3C"/>
                </a:solidFill>
              </a:rPr>
              <a:t>220 V</a:t>
            </a:r>
            <a:endParaRPr lang="en-US" sz="1250" dirty="0"/>
          </a:p>
        </p:txBody>
      </p:sp>
      <p:sp>
        <p:nvSpPr>
          <p:cNvPr id="20" name="Shape 18"/>
          <p:cNvSpPr/>
          <p:nvPr/>
        </p:nvSpPr>
        <p:spPr>
          <a:xfrm>
            <a:off x="6675120" y="1463040"/>
            <a:ext cx="2194560" cy="438912"/>
          </a:xfrm>
          <a:prstGeom prst="rect">
            <a:avLst/>
          </a:prstGeom>
          <a:solidFill>
            <a:srgbClr val="EBF9F7"/>
          </a:solidFill>
          <a:ln/>
        </p:spPr>
      </p:sp>
      <p:sp>
        <p:nvSpPr>
          <p:cNvPr id="21" name="Text 19"/>
          <p:cNvSpPr/>
          <p:nvPr/>
        </p:nvSpPr>
        <p:spPr>
          <a:xfrm>
            <a:off x="6720840" y="1463040"/>
            <a:ext cx="2103120" cy="438912"/>
          </a:xfrm>
          <a:prstGeom prst="rect">
            <a:avLst/>
          </a:prstGeom>
          <a:noFill/>
          <a:ln/>
        </p:spPr>
        <p:txBody>
          <a:bodyPr wrap="square" lIns="0" tIns="0" rIns="0" bIns="0" rtlCol="0" anchor="ctr"/>
          <a:lstStyle/>
          <a:p>
            <a:pPr marL="0" indent="0" algn="ctr">
              <a:buNone/>
            </a:pPr>
            <a:r>
              <a:rPr lang="en-US" sz="1250" b="1" dirty="0">
                <a:solidFill>
                  <a:srgbClr val="006B52"/>
                </a:solidFill>
              </a:rPr>
              <a:t>0.27%</a:t>
            </a:r>
            <a:endParaRPr lang="en-US" sz="1250" dirty="0"/>
          </a:p>
        </p:txBody>
      </p:sp>
      <p:sp>
        <p:nvSpPr>
          <p:cNvPr id="22" name="Shape 20"/>
          <p:cNvSpPr/>
          <p:nvPr/>
        </p:nvSpPr>
        <p:spPr>
          <a:xfrm>
            <a:off x="274320" y="1901952"/>
            <a:ext cx="2377440" cy="438912"/>
          </a:xfrm>
          <a:prstGeom prst="rect">
            <a:avLst/>
          </a:prstGeom>
          <a:solidFill>
            <a:srgbClr val="FFFFFF"/>
          </a:solidFill>
          <a:ln/>
        </p:spPr>
      </p:sp>
      <p:sp>
        <p:nvSpPr>
          <p:cNvPr id="23" name="Text 21"/>
          <p:cNvSpPr/>
          <p:nvPr/>
        </p:nvSpPr>
        <p:spPr>
          <a:xfrm>
            <a:off x="320040" y="1901952"/>
            <a:ext cx="2286000" cy="438912"/>
          </a:xfrm>
          <a:prstGeom prst="rect">
            <a:avLst/>
          </a:prstGeom>
          <a:noFill/>
          <a:ln/>
        </p:spPr>
        <p:txBody>
          <a:bodyPr wrap="square" lIns="0" tIns="0" rIns="0" bIns="0" rtlCol="0" anchor="ctr"/>
          <a:lstStyle/>
          <a:p>
            <a:pPr marL="0" indent="0" algn="ctr">
              <a:buNone/>
            </a:pPr>
            <a:r>
              <a:rPr lang="en-US" sz="1250" dirty="0">
                <a:solidFill>
                  <a:srgbClr val="1A2B3C"/>
                </a:solidFill>
              </a:rPr>
              <a:t>Current</a:t>
            </a:r>
            <a:endParaRPr lang="en-US" sz="1250" dirty="0"/>
          </a:p>
        </p:txBody>
      </p:sp>
      <p:sp>
        <p:nvSpPr>
          <p:cNvPr id="24" name="Shape 22"/>
          <p:cNvSpPr/>
          <p:nvPr/>
        </p:nvSpPr>
        <p:spPr>
          <a:xfrm>
            <a:off x="2651760" y="1901952"/>
            <a:ext cx="2011680" cy="438912"/>
          </a:xfrm>
          <a:prstGeom prst="rect">
            <a:avLst/>
          </a:prstGeom>
          <a:solidFill>
            <a:srgbClr val="FFFFFF"/>
          </a:solidFill>
          <a:ln/>
        </p:spPr>
      </p:sp>
      <p:sp>
        <p:nvSpPr>
          <p:cNvPr id="25" name="Text 23"/>
          <p:cNvSpPr/>
          <p:nvPr/>
        </p:nvSpPr>
        <p:spPr>
          <a:xfrm>
            <a:off x="2697480" y="1901952"/>
            <a:ext cx="1920240" cy="438912"/>
          </a:xfrm>
          <a:prstGeom prst="rect">
            <a:avLst/>
          </a:prstGeom>
          <a:noFill/>
          <a:ln/>
        </p:spPr>
        <p:txBody>
          <a:bodyPr wrap="square" lIns="0" tIns="0" rIns="0" bIns="0" rtlCol="0" anchor="ctr"/>
          <a:lstStyle/>
          <a:p>
            <a:pPr marL="0" indent="0" algn="ctr">
              <a:buNone/>
            </a:pPr>
            <a:r>
              <a:rPr lang="en-US" sz="1250" dirty="0">
                <a:solidFill>
                  <a:srgbClr val="1A2B3C"/>
                </a:solidFill>
              </a:rPr>
              <a:t>1.98 A</a:t>
            </a:r>
            <a:endParaRPr lang="en-US" sz="1250" dirty="0"/>
          </a:p>
        </p:txBody>
      </p:sp>
      <p:sp>
        <p:nvSpPr>
          <p:cNvPr id="26" name="Shape 24"/>
          <p:cNvSpPr/>
          <p:nvPr/>
        </p:nvSpPr>
        <p:spPr>
          <a:xfrm>
            <a:off x="4663440" y="1901952"/>
            <a:ext cx="2011680" cy="438912"/>
          </a:xfrm>
          <a:prstGeom prst="rect">
            <a:avLst/>
          </a:prstGeom>
          <a:solidFill>
            <a:srgbClr val="FFFFFF"/>
          </a:solidFill>
          <a:ln/>
        </p:spPr>
      </p:sp>
      <p:sp>
        <p:nvSpPr>
          <p:cNvPr id="27" name="Text 25"/>
          <p:cNvSpPr/>
          <p:nvPr/>
        </p:nvSpPr>
        <p:spPr>
          <a:xfrm>
            <a:off x="4709160" y="1901952"/>
            <a:ext cx="1920240" cy="438912"/>
          </a:xfrm>
          <a:prstGeom prst="rect">
            <a:avLst/>
          </a:prstGeom>
          <a:noFill/>
          <a:ln/>
        </p:spPr>
        <p:txBody>
          <a:bodyPr wrap="square" lIns="0" tIns="0" rIns="0" bIns="0" rtlCol="0" anchor="ctr"/>
          <a:lstStyle/>
          <a:p>
            <a:pPr marL="0" indent="0" algn="ctr">
              <a:buNone/>
            </a:pPr>
            <a:r>
              <a:rPr lang="en-US" sz="1250" dirty="0">
                <a:solidFill>
                  <a:srgbClr val="1A2B3C"/>
                </a:solidFill>
              </a:rPr>
              <a:t>2.0 A</a:t>
            </a:r>
            <a:endParaRPr lang="en-US" sz="1250" dirty="0"/>
          </a:p>
        </p:txBody>
      </p:sp>
      <p:sp>
        <p:nvSpPr>
          <p:cNvPr id="28" name="Shape 26"/>
          <p:cNvSpPr/>
          <p:nvPr/>
        </p:nvSpPr>
        <p:spPr>
          <a:xfrm>
            <a:off x="6675120" y="1901952"/>
            <a:ext cx="2194560" cy="438912"/>
          </a:xfrm>
          <a:prstGeom prst="rect">
            <a:avLst/>
          </a:prstGeom>
          <a:solidFill>
            <a:srgbClr val="FFFFFF"/>
          </a:solidFill>
          <a:ln/>
        </p:spPr>
      </p:sp>
      <p:sp>
        <p:nvSpPr>
          <p:cNvPr id="29" name="Text 27"/>
          <p:cNvSpPr/>
          <p:nvPr/>
        </p:nvSpPr>
        <p:spPr>
          <a:xfrm>
            <a:off x="6720840" y="1901952"/>
            <a:ext cx="2103120" cy="438912"/>
          </a:xfrm>
          <a:prstGeom prst="rect">
            <a:avLst/>
          </a:prstGeom>
          <a:noFill/>
          <a:ln/>
        </p:spPr>
        <p:txBody>
          <a:bodyPr wrap="square" lIns="0" tIns="0" rIns="0" bIns="0" rtlCol="0" anchor="ctr"/>
          <a:lstStyle/>
          <a:p>
            <a:pPr marL="0" indent="0" algn="ctr">
              <a:buNone/>
            </a:pPr>
            <a:r>
              <a:rPr lang="en-US" sz="1250" b="1" dirty="0">
                <a:solidFill>
                  <a:srgbClr val="006B52"/>
                </a:solidFill>
              </a:rPr>
              <a:t>1.0%</a:t>
            </a:r>
            <a:endParaRPr lang="en-US" sz="1250" dirty="0"/>
          </a:p>
        </p:txBody>
      </p:sp>
      <p:sp>
        <p:nvSpPr>
          <p:cNvPr id="30" name="Shape 28"/>
          <p:cNvSpPr/>
          <p:nvPr/>
        </p:nvSpPr>
        <p:spPr>
          <a:xfrm>
            <a:off x="274320" y="2340864"/>
            <a:ext cx="2377440" cy="438912"/>
          </a:xfrm>
          <a:prstGeom prst="rect">
            <a:avLst/>
          </a:prstGeom>
          <a:solidFill>
            <a:srgbClr val="EBF9F7"/>
          </a:solidFill>
          <a:ln/>
        </p:spPr>
      </p:sp>
      <p:sp>
        <p:nvSpPr>
          <p:cNvPr id="31" name="Text 29"/>
          <p:cNvSpPr/>
          <p:nvPr/>
        </p:nvSpPr>
        <p:spPr>
          <a:xfrm>
            <a:off x="320040" y="2340864"/>
            <a:ext cx="2286000" cy="438912"/>
          </a:xfrm>
          <a:prstGeom prst="rect">
            <a:avLst/>
          </a:prstGeom>
          <a:noFill/>
          <a:ln/>
        </p:spPr>
        <p:txBody>
          <a:bodyPr wrap="square" lIns="0" tIns="0" rIns="0" bIns="0" rtlCol="0" anchor="ctr"/>
          <a:lstStyle/>
          <a:p>
            <a:pPr marL="0" indent="0" algn="ctr">
              <a:buNone/>
            </a:pPr>
            <a:r>
              <a:rPr lang="en-US" sz="1250" dirty="0">
                <a:solidFill>
                  <a:srgbClr val="1A2B3C"/>
                </a:solidFill>
              </a:rPr>
              <a:t>Power (Calculated)</a:t>
            </a:r>
            <a:endParaRPr lang="en-US" sz="1250" dirty="0"/>
          </a:p>
        </p:txBody>
      </p:sp>
      <p:sp>
        <p:nvSpPr>
          <p:cNvPr id="32" name="Shape 30"/>
          <p:cNvSpPr/>
          <p:nvPr/>
        </p:nvSpPr>
        <p:spPr>
          <a:xfrm>
            <a:off x="2651760" y="2340864"/>
            <a:ext cx="2011680" cy="438912"/>
          </a:xfrm>
          <a:prstGeom prst="rect">
            <a:avLst/>
          </a:prstGeom>
          <a:solidFill>
            <a:srgbClr val="EBF9F7"/>
          </a:solidFill>
          <a:ln/>
        </p:spPr>
      </p:sp>
      <p:sp>
        <p:nvSpPr>
          <p:cNvPr id="33" name="Text 31"/>
          <p:cNvSpPr/>
          <p:nvPr/>
        </p:nvSpPr>
        <p:spPr>
          <a:xfrm>
            <a:off x="2697480" y="2340864"/>
            <a:ext cx="1920240" cy="438912"/>
          </a:xfrm>
          <a:prstGeom prst="rect">
            <a:avLst/>
          </a:prstGeom>
          <a:noFill/>
          <a:ln/>
        </p:spPr>
        <p:txBody>
          <a:bodyPr wrap="square" lIns="0" tIns="0" rIns="0" bIns="0" rtlCol="0" anchor="ctr"/>
          <a:lstStyle/>
          <a:p>
            <a:pPr marL="0" indent="0" algn="ctr">
              <a:buNone/>
            </a:pPr>
            <a:r>
              <a:rPr lang="en-US" sz="1250" dirty="0">
                <a:solidFill>
                  <a:srgbClr val="1A2B3C"/>
                </a:solidFill>
              </a:rPr>
              <a:t>434.0 W</a:t>
            </a:r>
            <a:endParaRPr lang="en-US" sz="1250" dirty="0"/>
          </a:p>
        </p:txBody>
      </p:sp>
      <p:sp>
        <p:nvSpPr>
          <p:cNvPr id="34" name="Shape 32"/>
          <p:cNvSpPr/>
          <p:nvPr/>
        </p:nvSpPr>
        <p:spPr>
          <a:xfrm>
            <a:off x="4663440" y="2340864"/>
            <a:ext cx="2011680" cy="438912"/>
          </a:xfrm>
          <a:prstGeom prst="rect">
            <a:avLst/>
          </a:prstGeom>
          <a:solidFill>
            <a:srgbClr val="EBF9F7"/>
          </a:solidFill>
          <a:ln/>
        </p:spPr>
      </p:sp>
      <p:sp>
        <p:nvSpPr>
          <p:cNvPr id="35" name="Text 33"/>
          <p:cNvSpPr/>
          <p:nvPr/>
        </p:nvSpPr>
        <p:spPr>
          <a:xfrm>
            <a:off x="4709160" y="2340864"/>
            <a:ext cx="1920240" cy="438912"/>
          </a:xfrm>
          <a:prstGeom prst="rect">
            <a:avLst/>
          </a:prstGeom>
          <a:noFill/>
          <a:ln/>
        </p:spPr>
        <p:txBody>
          <a:bodyPr wrap="square" lIns="0" tIns="0" rIns="0" bIns="0" rtlCol="0" anchor="ctr"/>
          <a:lstStyle/>
          <a:p>
            <a:pPr marL="0" indent="0" algn="ctr">
              <a:buNone/>
            </a:pPr>
            <a:r>
              <a:rPr lang="en-US" sz="1250" dirty="0">
                <a:solidFill>
                  <a:srgbClr val="1A2B3C"/>
                </a:solidFill>
              </a:rPr>
              <a:t>440 W</a:t>
            </a:r>
            <a:endParaRPr lang="en-US" sz="1250" dirty="0"/>
          </a:p>
        </p:txBody>
      </p:sp>
      <p:sp>
        <p:nvSpPr>
          <p:cNvPr id="36" name="Shape 34"/>
          <p:cNvSpPr/>
          <p:nvPr/>
        </p:nvSpPr>
        <p:spPr>
          <a:xfrm>
            <a:off x="6675120" y="2340864"/>
            <a:ext cx="2194560" cy="438912"/>
          </a:xfrm>
          <a:prstGeom prst="rect">
            <a:avLst/>
          </a:prstGeom>
          <a:solidFill>
            <a:srgbClr val="EBF9F7"/>
          </a:solidFill>
          <a:ln/>
        </p:spPr>
      </p:sp>
      <p:sp>
        <p:nvSpPr>
          <p:cNvPr id="37" name="Text 35"/>
          <p:cNvSpPr/>
          <p:nvPr/>
        </p:nvSpPr>
        <p:spPr>
          <a:xfrm>
            <a:off x="6720840" y="2340864"/>
            <a:ext cx="2103120" cy="438912"/>
          </a:xfrm>
          <a:prstGeom prst="rect">
            <a:avLst/>
          </a:prstGeom>
          <a:noFill/>
          <a:ln/>
        </p:spPr>
        <p:txBody>
          <a:bodyPr wrap="square" lIns="0" tIns="0" rIns="0" bIns="0" rtlCol="0" anchor="ctr"/>
          <a:lstStyle/>
          <a:p>
            <a:pPr marL="0" indent="0" algn="ctr">
              <a:buNone/>
            </a:pPr>
            <a:r>
              <a:rPr lang="en-US" sz="1250" b="1" dirty="0">
                <a:solidFill>
                  <a:srgbClr val="006B52"/>
                </a:solidFill>
              </a:rPr>
              <a:t>1.36%</a:t>
            </a:r>
            <a:endParaRPr lang="en-US" sz="1250" dirty="0"/>
          </a:p>
        </p:txBody>
      </p:sp>
      <p:sp>
        <p:nvSpPr>
          <p:cNvPr id="38" name="Shape 36"/>
          <p:cNvSpPr/>
          <p:nvPr/>
        </p:nvSpPr>
        <p:spPr>
          <a:xfrm>
            <a:off x="274320" y="2779776"/>
            <a:ext cx="2377440" cy="438912"/>
          </a:xfrm>
          <a:prstGeom prst="rect">
            <a:avLst/>
          </a:prstGeom>
          <a:solidFill>
            <a:srgbClr val="FFFFFF"/>
          </a:solidFill>
          <a:ln/>
        </p:spPr>
      </p:sp>
      <p:sp>
        <p:nvSpPr>
          <p:cNvPr id="39" name="Text 37"/>
          <p:cNvSpPr/>
          <p:nvPr/>
        </p:nvSpPr>
        <p:spPr>
          <a:xfrm>
            <a:off x="320040" y="2779776"/>
            <a:ext cx="2286000" cy="438912"/>
          </a:xfrm>
          <a:prstGeom prst="rect">
            <a:avLst/>
          </a:prstGeom>
          <a:noFill/>
          <a:ln/>
        </p:spPr>
        <p:txBody>
          <a:bodyPr wrap="square" lIns="0" tIns="0" rIns="0" bIns="0" rtlCol="0" anchor="ctr"/>
          <a:lstStyle/>
          <a:p>
            <a:pPr marL="0" indent="0" algn="ctr">
              <a:buNone/>
            </a:pPr>
            <a:r>
              <a:rPr lang="en-US" sz="1250" dirty="0">
                <a:solidFill>
                  <a:srgbClr val="1A2B3C"/>
                </a:solidFill>
              </a:rPr>
              <a:t>Frequency</a:t>
            </a:r>
            <a:endParaRPr lang="en-US" sz="1250" dirty="0"/>
          </a:p>
        </p:txBody>
      </p:sp>
      <p:sp>
        <p:nvSpPr>
          <p:cNvPr id="40" name="Shape 38"/>
          <p:cNvSpPr/>
          <p:nvPr/>
        </p:nvSpPr>
        <p:spPr>
          <a:xfrm>
            <a:off x="2651760" y="2779776"/>
            <a:ext cx="2011680" cy="438912"/>
          </a:xfrm>
          <a:prstGeom prst="rect">
            <a:avLst/>
          </a:prstGeom>
          <a:solidFill>
            <a:srgbClr val="FFFFFF"/>
          </a:solidFill>
          <a:ln/>
        </p:spPr>
      </p:sp>
      <p:sp>
        <p:nvSpPr>
          <p:cNvPr id="41" name="Text 39"/>
          <p:cNvSpPr/>
          <p:nvPr/>
        </p:nvSpPr>
        <p:spPr>
          <a:xfrm>
            <a:off x="2697480" y="2779776"/>
            <a:ext cx="1920240" cy="438912"/>
          </a:xfrm>
          <a:prstGeom prst="rect">
            <a:avLst/>
          </a:prstGeom>
          <a:noFill/>
          <a:ln/>
        </p:spPr>
        <p:txBody>
          <a:bodyPr wrap="square" lIns="0" tIns="0" rIns="0" bIns="0" rtlCol="0" anchor="ctr"/>
          <a:lstStyle/>
          <a:p>
            <a:pPr marL="0" indent="0" algn="ctr">
              <a:buNone/>
            </a:pPr>
            <a:r>
              <a:rPr lang="en-US" sz="1250" dirty="0">
                <a:solidFill>
                  <a:srgbClr val="1A2B3C"/>
                </a:solidFill>
              </a:rPr>
              <a:t>49.8 Hz</a:t>
            </a:r>
            <a:endParaRPr lang="en-US" sz="1250" dirty="0"/>
          </a:p>
        </p:txBody>
      </p:sp>
      <p:sp>
        <p:nvSpPr>
          <p:cNvPr id="42" name="Shape 40"/>
          <p:cNvSpPr/>
          <p:nvPr/>
        </p:nvSpPr>
        <p:spPr>
          <a:xfrm>
            <a:off x="4663440" y="2779776"/>
            <a:ext cx="2011680" cy="438912"/>
          </a:xfrm>
          <a:prstGeom prst="rect">
            <a:avLst/>
          </a:prstGeom>
          <a:solidFill>
            <a:srgbClr val="FFFFFF"/>
          </a:solidFill>
          <a:ln/>
        </p:spPr>
      </p:sp>
      <p:sp>
        <p:nvSpPr>
          <p:cNvPr id="43" name="Text 41"/>
          <p:cNvSpPr/>
          <p:nvPr/>
        </p:nvSpPr>
        <p:spPr>
          <a:xfrm>
            <a:off x="4709160" y="2779776"/>
            <a:ext cx="1920240" cy="438912"/>
          </a:xfrm>
          <a:prstGeom prst="rect">
            <a:avLst/>
          </a:prstGeom>
          <a:noFill/>
          <a:ln/>
        </p:spPr>
        <p:txBody>
          <a:bodyPr wrap="square" lIns="0" tIns="0" rIns="0" bIns="0" rtlCol="0" anchor="ctr"/>
          <a:lstStyle/>
          <a:p>
            <a:pPr marL="0" indent="0" algn="ctr">
              <a:buNone/>
            </a:pPr>
            <a:r>
              <a:rPr lang="en-US" sz="1250" dirty="0">
                <a:solidFill>
                  <a:srgbClr val="1A2B3C"/>
                </a:solidFill>
              </a:rPr>
              <a:t>50 Hz</a:t>
            </a:r>
            <a:endParaRPr lang="en-US" sz="1250" dirty="0"/>
          </a:p>
        </p:txBody>
      </p:sp>
      <p:sp>
        <p:nvSpPr>
          <p:cNvPr id="44" name="Shape 42"/>
          <p:cNvSpPr/>
          <p:nvPr/>
        </p:nvSpPr>
        <p:spPr>
          <a:xfrm>
            <a:off x="6675120" y="2779776"/>
            <a:ext cx="2194560" cy="438912"/>
          </a:xfrm>
          <a:prstGeom prst="rect">
            <a:avLst/>
          </a:prstGeom>
          <a:solidFill>
            <a:srgbClr val="FFFFFF"/>
          </a:solidFill>
          <a:ln/>
        </p:spPr>
      </p:sp>
      <p:sp>
        <p:nvSpPr>
          <p:cNvPr id="45" name="Text 43"/>
          <p:cNvSpPr/>
          <p:nvPr/>
        </p:nvSpPr>
        <p:spPr>
          <a:xfrm>
            <a:off x="6720840" y="2779776"/>
            <a:ext cx="2103120" cy="438912"/>
          </a:xfrm>
          <a:prstGeom prst="rect">
            <a:avLst/>
          </a:prstGeom>
          <a:noFill/>
          <a:ln/>
        </p:spPr>
        <p:txBody>
          <a:bodyPr wrap="square" lIns="0" tIns="0" rIns="0" bIns="0" rtlCol="0" anchor="ctr"/>
          <a:lstStyle/>
          <a:p>
            <a:pPr marL="0" indent="0" algn="ctr">
              <a:buNone/>
            </a:pPr>
            <a:r>
              <a:rPr lang="en-US" sz="1250" b="1" dirty="0">
                <a:solidFill>
                  <a:srgbClr val="006B52"/>
                </a:solidFill>
              </a:rPr>
              <a:t>0.40%</a:t>
            </a:r>
            <a:endParaRPr lang="en-US" sz="1250" dirty="0"/>
          </a:p>
        </p:txBody>
      </p:sp>
      <p:sp>
        <p:nvSpPr>
          <p:cNvPr id="46" name="Text 44"/>
          <p:cNvSpPr/>
          <p:nvPr/>
        </p:nvSpPr>
        <p:spPr>
          <a:xfrm>
            <a:off x="274320" y="3337560"/>
            <a:ext cx="8595360" cy="274320"/>
          </a:xfrm>
          <a:prstGeom prst="rect">
            <a:avLst/>
          </a:prstGeom>
          <a:noFill/>
          <a:ln/>
        </p:spPr>
        <p:txBody>
          <a:bodyPr wrap="square" lIns="0" tIns="0" rIns="0" bIns="0" rtlCol="0" anchor="ctr"/>
          <a:lstStyle/>
          <a:p>
            <a:pPr marL="0" indent="0" algn="ctr">
              <a:buNone/>
            </a:pPr>
            <a:r>
              <a:rPr lang="en-US" sz="1050" i="1" dirty="0">
                <a:solidFill>
                  <a:srgbClr val="64748B"/>
                </a:solidFill>
              </a:rPr>
              <a:t>Load: 100W incandescent lamp @ 230V AC mains | Reference: Calibrated DMM + Clamp meter</a:t>
            </a:r>
            <a:endParaRPr lang="en-US" sz="1050" dirty="0"/>
          </a:p>
        </p:txBody>
      </p:sp>
      <p:sp>
        <p:nvSpPr>
          <p:cNvPr id="47" name="Shape 45"/>
          <p:cNvSpPr/>
          <p:nvPr/>
        </p:nvSpPr>
        <p:spPr>
          <a:xfrm>
            <a:off x="274320" y="3703320"/>
            <a:ext cx="1920240" cy="1097280"/>
          </a:xfrm>
          <a:prstGeom prst="rect">
            <a:avLst/>
          </a:prstGeom>
          <a:solidFill>
            <a:srgbClr val="0A1628"/>
          </a:solidFill>
          <a:ln/>
          <a:effectLst>
            <a:outerShdw blurRad="76200" dist="25400" dir="8100000" algn="bl" rotWithShape="0">
              <a:srgbClr val="000000">
                <a:alpha val="10000"/>
              </a:srgbClr>
            </a:outerShdw>
          </a:effectLst>
        </p:spPr>
      </p:sp>
      <p:sp>
        <p:nvSpPr>
          <p:cNvPr id="48" name="Text 46"/>
          <p:cNvSpPr/>
          <p:nvPr/>
        </p:nvSpPr>
        <p:spPr>
          <a:xfrm>
            <a:off x="274320" y="3749040"/>
            <a:ext cx="1920240" cy="594360"/>
          </a:xfrm>
          <a:prstGeom prst="rect">
            <a:avLst/>
          </a:prstGeom>
          <a:noFill/>
          <a:ln/>
        </p:spPr>
        <p:txBody>
          <a:bodyPr wrap="square" lIns="0" tIns="0" rIns="0" bIns="0" rtlCol="0" anchor="ctr"/>
          <a:lstStyle/>
          <a:p>
            <a:pPr marL="0" indent="0" algn="ctr">
              <a:buNone/>
            </a:pPr>
            <a:r>
              <a:rPr lang="en-US" sz="2800" b="1" dirty="0">
                <a:solidFill>
                  <a:srgbClr val="00BFA6"/>
                </a:solidFill>
              </a:rPr>
              <a:t>0.27%</a:t>
            </a:r>
            <a:endParaRPr lang="en-US" sz="2800" dirty="0"/>
          </a:p>
        </p:txBody>
      </p:sp>
      <p:sp>
        <p:nvSpPr>
          <p:cNvPr id="49" name="Text 47"/>
          <p:cNvSpPr/>
          <p:nvPr/>
        </p:nvSpPr>
        <p:spPr>
          <a:xfrm>
            <a:off x="274320" y="4343400"/>
            <a:ext cx="1920240" cy="411480"/>
          </a:xfrm>
          <a:prstGeom prst="rect">
            <a:avLst/>
          </a:prstGeom>
          <a:noFill/>
          <a:ln/>
        </p:spPr>
        <p:txBody>
          <a:bodyPr wrap="square" lIns="0" tIns="0" rIns="0" bIns="0" rtlCol="0" anchor="ctr"/>
          <a:lstStyle/>
          <a:p>
            <a:pPr marL="0" indent="0" algn="ctr">
              <a:buNone/>
            </a:pPr>
            <a:r>
              <a:rPr lang="en-US" sz="1000" dirty="0">
                <a:solidFill>
                  <a:srgbClr val="B0C4D8"/>
                </a:solidFill>
              </a:rPr>
              <a:t>Voltage Accuracy Error</a:t>
            </a:r>
            <a:endParaRPr lang="en-US" sz="1000" dirty="0"/>
          </a:p>
        </p:txBody>
      </p:sp>
      <p:sp>
        <p:nvSpPr>
          <p:cNvPr id="50" name="Shape 48"/>
          <p:cNvSpPr/>
          <p:nvPr/>
        </p:nvSpPr>
        <p:spPr>
          <a:xfrm>
            <a:off x="2450592" y="3703320"/>
            <a:ext cx="1920240" cy="1097280"/>
          </a:xfrm>
          <a:prstGeom prst="rect">
            <a:avLst/>
          </a:prstGeom>
          <a:solidFill>
            <a:srgbClr val="0A1628"/>
          </a:solidFill>
          <a:ln/>
          <a:effectLst>
            <a:outerShdw blurRad="76200" dist="25400" dir="8100000" algn="bl" rotWithShape="0">
              <a:srgbClr val="000000">
                <a:alpha val="10000"/>
              </a:srgbClr>
            </a:outerShdw>
          </a:effectLst>
        </p:spPr>
      </p:sp>
      <p:sp>
        <p:nvSpPr>
          <p:cNvPr id="51" name="Text 49"/>
          <p:cNvSpPr/>
          <p:nvPr/>
        </p:nvSpPr>
        <p:spPr>
          <a:xfrm>
            <a:off x="2450592" y="3749040"/>
            <a:ext cx="1920240" cy="594360"/>
          </a:xfrm>
          <a:prstGeom prst="rect">
            <a:avLst/>
          </a:prstGeom>
          <a:noFill/>
          <a:ln/>
        </p:spPr>
        <p:txBody>
          <a:bodyPr wrap="square" lIns="0" tIns="0" rIns="0" bIns="0" rtlCol="0" anchor="ctr"/>
          <a:lstStyle/>
          <a:p>
            <a:pPr marL="0" indent="0" algn="ctr">
              <a:buNone/>
            </a:pPr>
            <a:r>
              <a:rPr lang="en-US" sz="2800" b="1" dirty="0">
                <a:solidFill>
                  <a:srgbClr val="00BFA6"/>
                </a:solidFill>
              </a:rPr>
              <a:t>1.0%</a:t>
            </a:r>
            <a:endParaRPr lang="en-US" sz="2800" dirty="0"/>
          </a:p>
        </p:txBody>
      </p:sp>
      <p:sp>
        <p:nvSpPr>
          <p:cNvPr id="52" name="Text 50"/>
          <p:cNvSpPr/>
          <p:nvPr/>
        </p:nvSpPr>
        <p:spPr>
          <a:xfrm>
            <a:off x="2450592" y="4343400"/>
            <a:ext cx="1920240" cy="411480"/>
          </a:xfrm>
          <a:prstGeom prst="rect">
            <a:avLst/>
          </a:prstGeom>
          <a:noFill/>
          <a:ln/>
        </p:spPr>
        <p:txBody>
          <a:bodyPr wrap="square" lIns="0" tIns="0" rIns="0" bIns="0" rtlCol="0" anchor="ctr"/>
          <a:lstStyle/>
          <a:p>
            <a:pPr marL="0" indent="0" algn="ctr">
              <a:buNone/>
            </a:pPr>
            <a:r>
              <a:rPr lang="en-US" sz="1000" dirty="0">
                <a:solidFill>
                  <a:srgbClr val="B0C4D8"/>
                </a:solidFill>
              </a:rPr>
              <a:t>Current Accuracy Error</a:t>
            </a:r>
            <a:endParaRPr lang="en-US" sz="1000" dirty="0"/>
          </a:p>
        </p:txBody>
      </p:sp>
      <p:sp>
        <p:nvSpPr>
          <p:cNvPr id="53" name="Shape 51"/>
          <p:cNvSpPr/>
          <p:nvPr/>
        </p:nvSpPr>
        <p:spPr>
          <a:xfrm>
            <a:off x="4626864" y="3703320"/>
            <a:ext cx="1920240" cy="1097280"/>
          </a:xfrm>
          <a:prstGeom prst="rect">
            <a:avLst/>
          </a:prstGeom>
          <a:solidFill>
            <a:srgbClr val="0A1628"/>
          </a:solidFill>
          <a:ln/>
          <a:effectLst>
            <a:outerShdw blurRad="76200" dist="25400" dir="8100000" algn="bl" rotWithShape="0">
              <a:srgbClr val="000000">
                <a:alpha val="10000"/>
              </a:srgbClr>
            </a:outerShdw>
          </a:effectLst>
        </p:spPr>
      </p:sp>
      <p:sp>
        <p:nvSpPr>
          <p:cNvPr id="54" name="Text 52"/>
          <p:cNvSpPr/>
          <p:nvPr/>
        </p:nvSpPr>
        <p:spPr>
          <a:xfrm>
            <a:off x="4626864" y="3749040"/>
            <a:ext cx="1920240" cy="594360"/>
          </a:xfrm>
          <a:prstGeom prst="rect">
            <a:avLst/>
          </a:prstGeom>
          <a:noFill/>
          <a:ln/>
        </p:spPr>
        <p:txBody>
          <a:bodyPr wrap="square" lIns="0" tIns="0" rIns="0" bIns="0" rtlCol="0" anchor="ctr"/>
          <a:lstStyle/>
          <a:p>
            <a:pPr marL="0" indent="0" algn="ctr">
              <a:buNone/>
            </a:pPr>
            <a:r>
              <a:rPr lang="en-US" sz="2800" b="1" dirty="0">
                <a:solidFill>
                  <a:srgbClr val="00BFA6"/>
                </a:solidFill>
              </a:rPr>
              <a:t>1.36%</a:t>
            </a:r>
            <a:endParaRPr lang="en-US" sz="2800" dirty="0"/>
          </a:p>
        </p:txBody>
      </p:sp>
      <p:sp>
        <p:nvSpPr>
          <p:cNvPr id="55" name="Text 53"/>
          <p:cNvSpPr/>
          <p:nvPr/>
        </p:nvSpPr>
        <p:spPr>
          <a:xfrm>
            <a:off x="4626864" y="4343400"/>
            <a:ext cx="1920240" cy="411480"/>
          </a:xfrm>
          <a:prstGeom prst="rect">
            <a:avLst/>
          </a:prstGeom>
          <a:noFill/>
          <a:ln/>
        </p:spPr>
        <p:txBody>
          <a:bodyPr wrap="square" lIns="0" tIns="0" rIns="0" bIns="0" rtlCol="0" anchor="ctr"/>
          <a:lstStyle/>
          <a:p>
            <a:pPr marL="0" indent="0" algn="ctr">
              <a:buNone/>
            </a:pPr>
            <a:r>
              <a:rPr lang="en-US" sz="1000" dirty="0">
                <a:solidFill>
                  <a:srgbClr val="B0C4D8"/>
                </a:solidFill>
              </a:rPr>
              <a:t>Power Accuracy Error</a:t>
            </a:r>
            <a:endParaRPr lang="en-US" sz="1000" dirty="0"/>
          </a:p>
        </p:txBody>
      </p:sp>
      <p:sp>
        <p:nvSpPr>
          <p:cNvPr id="56" name="Shape 54"/>
          <p:cNvSpPr/>
          <p:nvPr/>
        </p:nvSpPr>
        <p:spPr>
          <a:xfrm>
            <a:off x="6803136" y="3703320"/>
            <a:ext cx="1920240" cy="1097280"/>
          </a:xfrm>
          <a:prstGeom prst="rect">
            <a:avLst/>
          </a:prstGeom>
          <a:solidFill>
            <a:srgbClr val="0A1628"/>
          </a:solidFill>
          <a:ln/>
          <a:effectLst>
            <a:outerShdw blurRad="76200" dist="25400" dir="8100000" algn="bl" rotWithShape="0">
              <a:srgbClr val="000000">
                <a:alpha val="10000"/>
              </a:srgbClr>
            </a:outerShdw>
          </a:effectLst>
        </p:spPr>
      </p:sp>
      <p:sp>
        <p:nvSpPr>
          <p:cNvPr id="57" name="Text 55"/>
          <p:cNvSpPr/>
          <p:nvPr/>
        </p:nvSpPr>
        <p:spPr>
          <a:xfrm>
            <a:off x="6803136" y="3749040"/>
            <a:ext cx="1920240" cy="594360"/>
          </a:xfrm>
          <a:prstGeom prst="rect">
            <a:avLst/>
          </a:prstGeom>
          <a:noFill/>
          <a:ln/>
        </p:spPr>
        <p:txBody>
          <a:bodyPr wrap="square" lIns="0" tIns="0" rIns="0" bIns="0" rtlCol="0" anchor="ctr"/>
          <a:lstStyle/>
          <a:p>
            <a:pPr marL="0" indent="0" algn="ctr">
              <a:buNone/>
            </a:pPr>
            <a:r>
              <a:rPr lang="en-US" sz="2800" b="1" dirty="0">
                <a:solidFill>
                  <a:srgbClr val="00BFA6"/>
                </a:solidFill>
              </a:rPr>
              <a:t>0.40%</a:t>
            </a:r>
            <a:endParaRPr lang="en-US" sz="2800" dirty="0"/>
          </a:p>
        </p:txBody>
      </p:sp>
      <p:sp>
        <p:nvSpPr>
          <p:cNvPr id="58" name="Text 56"/>
          <p:cNvSpPr/>
          <p:nvPr/>
        </p:nvSpPr>
        <p:spPr>
          <a:xfrm>
            <a:off x="6803136" y="4343400"/>
            <a:ext cx="1920240" cy="411480"/>
          </a:xfrm>
          <a:prstGeom prst="rect">
            <a:avLst/>
          </a:prstGeom>
          <a:noFill/>
          <a:ln/>
        </p:spPr>
        <p:txBody>
          <a:bodyPr wrap="square" lIns="0" tIns="0" rIns="0" bIns="0" rtlCol="0" anchor="ctr"/>
          <a:lstStyle/>
          <a:p>
            <a:pPr marL="0" indent="0" algn="ctr">
              <a:buNone/>
            </a:pPr>
            <a:r>
              <a:rPr lang="en-US" sz="1000" dirty="0">
                <a:solidFill>
                  <a:srgbClr val="B0C4D8"/>
                </a:solidFill>
              </a:rPr>
              <a:t>Frequency Error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FA6"/>
          </a:solidFill>
          <a:ln/>
        </p:spPr>
      </p:sp>
      <p:sp>
        <p:nvSpPr>
          <p:cNvPr id="3" name="Text 1"/>
          <p:cNvSpPr/>
          <p:nvPr/>
        </p:nvSpPr>
        <p:spPr>
          <a:xfrm>
            <a:off x="36576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rPr>
              <a:t>Achievements &amp; Future Scope</a:t>
            </a:r>
            <a:endParaRPr lang="en-US" sz="2800" dirty="0"/>
          </a:p>
        </p:txBody>
      </p:sp>
      <p:sp>
        <p:nvSpPr>
          <p:cNvPr id="4" name="Shape 2"/>
          <p:cNvSpPr/>
          <p:nvPr/>
        </p:nvSpPr>
        <p:spPr>
          <a:xfrm>
            <a:off x="365760" y="804672"/>
            <a:ext cx="8412480" cy="36576"/>
          </a:xfrm>
          <a:prstGeom prst="rect">
            <a:avLst/>
          </a:prstGeom>
          <a:solidFill>
            <a:srgbClr val="00BFA6"/>
          </a:solidFill>
          <a:ln/>
        </p:spPr>
      </p:sp>
      <p:sp>
        <p:nvSpPr>
          <p:cNvPr id="5" name="Shape 3"/>
          <p:cNvSpPr/>
          <p:nvPr/>
        </p:nvSpPr>
        <p:spPr>
          <a:xfrm>
            <a:off x="274320" y="960120"/>
            <a:ext cx="4114800" cy="3474720"/>
          </a:xfrm>
          <a:prstGeom prst="rect">
            <a:avLst/>
          </a:prstGeom>
          <a:solidFill>
            <a:srgbClr val="0D2137"/>
          </a:solidFill>
          <a:ln/>
          <a:effectLst>
            <a:outerShdw blurRad="101600" dist="25400" dir="8100000" algn="bl" rotWithShape="0">
              <a:srgbClr val="000000">
                <a:alpha val="20000"/>
              </a:srgbClr>
            </a:outerShdw>
          </a:effectLst>
        </p:spPr>
      </p:sp>
      <p:sp>
        <p:nvSpPr>
          <p:cNvPr id="6" name="Shape 4"/>
          <p:cNvSpPr/>
          <p:nvPr/>
        </p:nvSpPr>
        <p:spPr>
          <a:xfrm>
            <a:off x="274320" y="960120"/>
            <a:ext cx="4114800" cy="365760"/>
          </a:xfrm>
          <a:prstGeom prst="rect">
            <a:avLst/>
          </a:prstGeom>
          <a:solidFill>
            <a:srgbClr val="00BFA6"/>
          </a:solidFill>
          <a:ln/>
        </p:spPr>
      </p:sp>
      <p:sp>
        <p:nvSpPr>
          <p:cNvPr id="7" name="Text 5"/>
          <p:cNvSpPr/>
          <p:nvPr/>
        </p:nvSpPr>
        <p:spPr>
          <a:xfrm>
            <a:off x="365760" y="978408"/>
            <a:ext cx="3931920" cy="320040"/>
          </a:xfrm>
          <a:prstGeom prst="rect">
            <a:avLst/>
          </a:prstGeom>
          <a:noFill/>
          <a:ln/>
        </p:spPr>
        <p:txBody>
          <a:bodyPr wrap="square" lIns="0" tIns="0" rIns="0" bIns="0" rtlCol="0" anchor="ctr"/>
          <a:lstStyle/>
          <a:p>
            <a:pPr marL="0" indent="0">
              <a:buNone/>
            </a:pPr>
            <a:r>
              <a:rPr lang="en-US" sz="1300" b="1" dirty="0">
                <a:solidFill>
                  <a:srgbClr val="0A1628"/>
                </a:solidFill>
              </a:rPr>
              <a:t>✅ Achievements</a:t>
            </a:r>
            <a:endParaRPr lang="en-US" sz="1300" dirty="0"/>
          </a:p>
        </p:txBody>
      </p:sp>
      <p:sp>
        <p:nvSpPr>
          <p:cNvPr id="8" name="Text 6"/>
          <p:cNvSpPr/>
          <p:nvPr/>
        </p:nvSpPr>
        <p:spPr>
          <a:xfrm>
            <a:off x="411480" y="1389888"/>
            <a:ext cx="3840480" cy="2834640"/>
          </a:xfrm>
          <a:prstGeom prst="rect">
            <a:avLst/>
          </a:prstGeom>
          <a:noFill/>
          <a:ln/>
        </p:spPr>
        <p:txBody>
          <a:bodyPr wrap="square" rtlCol="0" anchor="ctr"/>
          <a:lstStyle/>
          <a:p>
            <a:pPr marL="342900" indent="-342900">
              <a:spcAft>
                <a:spcPts val="700"/>
              </a:spcAft>
              <a:buSzPct val="100000"/>
              <a:buChar char="•"/>
            </a:pPr>
            <a:r>
              <a:rPr lang="en-US" sz="1200" dirty="0">
                <a:solidFill>
                  <a:srgbClr val="FFFFFF"/>
                </a:solidFill>
              </a:rPr>
              <a:t>Real-time V, I, P, Energy on compact OLED display.</a:t>
            </a:r>
            <a:endParaRPr lang="en-US" sz="1200" dirty="0"/>
          </a:p>
          <a:p>
            <a:pPr marL="342900" indent="-342900">
              <a:spcAft>
                <a:spcPts val="700"/>
              </a:spcAft>
              <a:buSzPct val="100000"/>
              <a:buChar char="•"/>
            </a:pPr>
            <a:r>
              <a:rPr lang="en-US" sz="1200" dirty="0">
                <a:solidFill>
                  <a:srgbClr val="FFFFFF"/>
                </a:solidFill>
              </a:rPr>
              <a:t>Voltage accuracy: 0.27% | Power accuracy: 1.36%.</a:t>
            </a:r>
            <a:endParaRPr lang="en-US" sz="1200" dirty="0"/>
          </a:p>
          <a:p>
            <a:pPr marL="342900" indent="-342900">
              <a:spcAft>
                <a:spcPts val="700"/>
              </a:spcAft>
              <a:buSzPct val="100000"/>
              <a:buChar char="•"/>
            </a:pPr>
            <a:r>
              <a:rPr lang="en-US" sz="1200" dirty="0">
                <a:solidFill>
                  <a:srgbClr val="FFFFFF"/>
                </a:solidFill>
              </a:rPr>
              <a:t>Calibrated &amp; debugged ACS712 offset and ADC noise.</a:t>
            </a:r>
            <a:endParaRPr lang="en-US" sz="1200" dirty="0"/>
          </a:p>
          <a:p>
            <a:pPr marL="342900" indent="-342900">
              <a:spcAft>
                <a:spcPts val="700"/>
              </a:spcAft>
              <a:buSzPct val="100000"/>
              <a:buChar char="•"/>
            </a:pPr>
            <a:r>
              <a:rPr lang="en-US" sz="1200" dirty="0">
                <a:solidFill>
                  <a:srgbClr val="FFFFFF"/>
                </a:solidFill>
              </a:rPr>
              <a:t>Validated via Proteus simulation before hardware.</a:t>
            </a:r>
            <a:endParaRPr lang="en-US" sz="1200" dirty="0"/>
          </a:p>
          <a:p>
            <a:pPr marL="342900" indent="-342900">
              <a:spcAft>
                <a:spcPts val="700"/>
              </a:spcAft>
              <a:buSzPct val="100000"/>
              <a:buChar char="•"/>
            </a:pPr>
            <a:r>
              <a:rPr lang="en-US" sz="1200" dirty="0">
                <a:solidFill>
                  <a:srgbClr val="FFFFFF"/>
                </a:solidFill>
              </a:rPr>
              <a:t>Total cost under ₹700 — affordable &amp; portable.</a:t>
            </a:r>
            <a:endParaRPr lang="en-US" sz="1200" dirty="0"/>
          </a:p>
        </p:txBody>
      </p:sp>
      <p:sp>
        <p:nvSpPr>
          <p:cNvPr id="9" name="Shape 7"/>
          <p:cNvSpPr/>
          <p:nvPr/>
        </p:nvSpPr>
        <p:spPr>
          <a:xfrm>
            <a:off x="4663440" y="960120"/>
            <a:ext cx="4206240" cy="3474720"/>
          </a:xfrm>
          <a:prstGeom prst="rect">
            <a:avLst/>
          </a:prstGeom>
          <a:solidFill>
            <a:srgbClr val="0D2137"/>
          </a:solidFill>
          <a:ln/>
          <a:effectLst>
            <a:outerShdw blurRad="101600" dist="25400" dir="8100000" algn="bl" rotWithShape="0">
              <a:srgbClr val="000000">
                <a:alpha val="20000"/>
              </a:srgbClr>
            </a:outerShdw>
          </a:effectLst>
        </p:spPr>
      </p:sp>
      <p:sp>
        <p:nvSpPr>
          <p:cNvPr id="10" name="Shape 8"/>
          <p:cNvSpPr/>
          <p:nvPr/>
        </p:nvSpPr>
        <p:spPr>
          <a:xfrm>
            <a:off x="4663440" y="960120"/>
            <a:ext cx="4206240" cy="365760"/>
          </a:xfrm>
          <a:prstGeom prst="rect">
            <a:avLst/>
          </a:prstGeom>
          <a:solidFill>
            <a:srgbClr val="FF6B35"/>
          </a:solidFill>
          <a:ln/>
        </p:spPr>
      </p:sp>
      <p:sp>
        <p:nvSpPr>
          <p:cNvPr id="11" name="Text 9"/>
          <p:cNvSpPr/>
          <p:nvPr/>
        </p:nvSpPr>
        <p:spPr>
          <a:xfrm>
            <a:off x="4754880" y="978408"/>
            <a:ext cx="4023360" cy="320040"/>
          </a:xfrm>
          <a:prstGeom prst="rect">
            <a:avLst/>
          </a:prstGeom>
          <a:noFill/>
          <a:ln/>
        </p:spPr>
        <p:txBody>
          <a:bodyPr wrap="square" lIns="0" tIns="0" rIns="0" bIns="0" rtlCol="0" anchor="ctr"/>
          <a:lstStyle/>
          <a:p>
            <a:pPr marL="0" indent="0">
              <a:buNone/>
            </a:pPr>
            <a:r>
              <a:rPr lang="en-US" sz="1300" b="1" dirty="0">
                <a:solidFill>
                  <a:srgbClr val="FFFFFF"/>
                </a:solidFill>
              </a:rPr>
              <a:t>🚀 Future Scope</a:t>
            </a:r>
            <a:endParaRPr lang="en-US" sz="1300" dirty="0"/>
          </a:p>
        </p:txBody>
      </p:sp>
      <p:sp>
        <p:nvSpPr>
          <p:cNvPr id="12" name="Text 10"/>
          <p:cNvSpPr/>
          <p:nvPr/>
        </p:nvSpPr>
        <p:spPr>
          <a:xfrm>
            <a:off x="4754880" y="1389888"/>
            <a:ext cx="3977640" cy="2834640"/>
          </a:xfrm>
          <a:prstGeom prst="rect">
            <a:avLst/>
          </a:prstGeom>
          <a:noFill/>
          <a:ln/>
        </p:spPr>
        <p:txBody>
          <a:bodyPr wrap="square" rtlCol="0" anchor="ctr"/>
          <a:lstStyle/>
          <a:p>
            <a:pPr marL="342900" indent="-342900">
              <a:spcAft>
                <a:spcPts val="700"/>
              </a:spcAft>
              <a:buSzPct val="100000"/>
              <a:buChar char="•"/>
            </a:pPr>
            <a:r>
              <a:rPr lang="en-US" sz="1200" dirty="0">
                <a:solidFill>
                  <a:srgbClr val="FFFFFF"/>
                </a:solidFill>
              </a:rPr>
              <a:t>IoT Integration — ESP8266/ESP32 for remote web dashboard.</a:t>
            </a:r>
            <a:endParaRPr lang="en-US" sz="1200" dirty="0"/>
          </a:p>
          <a:p>
            <a:pPr marL="342900" indent="-342900">
              <a:spcAft>
                <a:spcPts val="700"/>
              </a:spcAft>
              <a:buSzPct val="100000"/>
              <a:buChar char="•"/>
            </a:pPr>
            <a:r>
              <a:rPr lang="en-US" sz="1200" dirty="0">
                <a:solidFill>
                  <a:srgbClr val="FFFFFF"/>
                </a:solidFill>
              </a:rPr>
              <a:t>True Power Factor — measure reactive &amp; apparent power.</a:t>
            </a:r>
            <a:endParaRPr lang="en-US" sz="1200" dirty="0"/>
          </a:p>
          <a:p>
            <a:pPr marL="342900" indent="-342900">
              <a:spcAft>
                <a:spcPts val="700"/>
              </a:spcAft>
              <a:buSzPct val="100000"/>
              <a:buChar char="•"/>
            </a:pPr>
            <a:r>
              <a:rPr lang="en-US" sz="1200" dirty="0">
                <a:solidFill>
                  <a:srgbClr val="FFFFFF"/>
                </a:solidFill>
              </a:rPr>
              <a:t>Data Logging — SD card / EEPROM for historical analysis.</a:t>
            </a:r>
            <a:endParaRPr lang="en-US" sz="1200" dirty="0"/>
          </a:p>
          <a:p>
            <a:pPr marL="342900" indent="-342900">
              <a:spcAft>
                <a:spcPts val="700"/>
              </a:spcAft>
              <a:buSzPct val="100000"/>
              <a:buChar char="•"/>
            </a:pPr>
            <a:r>
              <a:rPr lang="en-US" sz="1200" dirty="0">
                <a:solidFill>
                  <a:srgbClr val="FFFFFF"/>
                </a:solidFill>
              </a:rPr>
              <a:t>Multi-Phase Extension — 3-phase industrial systems.</a:t>
            </a:r>
            <a:endParaRPr lang="en-US" sz="1200" dirty="0"/>
          </a:p>
          <a:p>
            <a:pPr marL="342900" indent="-342900">
              <a:spcAft>
                <a:spcPts val="700"/>
              </a:spcAft>
              <a:buSzPct val="100000"/>
              <a:buChar char="•"/>
            </a:pPr>
            <a:r>
              <a:rPr lang="en-US" sz="1200" dirty="0">
                <a:solidFill>
                  <a:srgbClr val="FFFFFF"/>
                </a:solidFill>
              </a:rPr>
              <a:t>Cloud Integration — ThingSpeak / Blynk for alerts.</a:t>
            </a:r>
            <a:endParaRPr lang="en-US" sz="1200" dirty="0"/>
          </a:p>
        </p:txBody>
      </p:sp>
      <p:sp>
        <p:nvSpPr>
          <p:cNvPr id="13" name="Shape 11"/>
          <p:cNvSpPr/>
          <p:nvPr/>
        </p:nvSpPr>
        <p:spPr>
          <a:xfrm>
            <a:off x="0" y="4572000"/>
            <a:ext cx="9144000" cy="571500"/>
          </a:xfrm>
          <a:prstGeom prst="rect">
            <a:avLst/>
          </a:prstGeom>
          <a:solidFill>
            <a:srgbClr val="00BFA6"/>
          </a:solidFill>
          <a:ln/>
        </p:spPr>
      </p:sp>
      <p:sp>
        <p:nvSpPr>
          <p:cNvPr id="14" name="Text 12"/>
          <p:cNvSpPr/>
          <p:nvPr/>
        </p:nvSpPr>
        <p:spPr>
          <a:xfrm>
            <a:off x="274320" y="4572000"/>
            <a:ext cx="8595360" cy="571500"/>
          </a:xfrm>
          <a:prstGeom prst="rect">
            <a:avLst/>
          </a:prstGeom>
          <a:noFill/>
          <a:ln/>
        </p:spPr>
        <p:txBody>
          <a:bodyPr wrap="square" lIns="0" tIns="0" rIns="0" bIns="0" rtlCol="0" anchor="ctr"/>
          <a:lstStyle/>
          <a:p>
            <a:pPr marL="0" indent="0" algn="ctr">
              <a:buNone/>
            </a:pPr>
            <a:r>
              <a:rPr lang="en-US" sz="1200" b="1" dirty="0">
                <a:solidFill>
                  <a:srgbClr val="0A1628"/>
                </a:solidFill>
              </a:rPr>
              <a:t>Thank You  |  Department of Electronics Engineering, Walchand Institute of Technology, Solapur  |  2025-26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9F7"/>
        </a:solidFill>
        <a:effectLst/>
      </p:bgPr>
    </p:bg>
    <p:spTree>
      <p:nvGrpSpPr>
        <p:cNvPr id="1" name="">
          <a:extLst>
            <a:ext uri="{FF2B5EF4-FFF2-40B4-BE49-F238E27FC236}">
              <a16:creationId xmlns:a16="http://schemas.microsoft.com/office/drawing/2014/main" id="{6B5A7046-587E-B3EE-2DAA-E8ED1C7B73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98273F-100D-9A10-9BDE-7C4007C594F0}"/>
              </a:ext>
            </a:extLst>
          </p:cNvPr>
          <p:cNvSpPr/>
          <p:nvPr/>
        </p:nvSpPr>
        <p:spPr>
          <a:xfrm>
            <a:off x="0" y="0"/>
            <a:ext cx="9144000" cy="914400"/>
          </a:xfrm>
          <a:prstGeom prst="rect">
            <a:avLst/>
          </a:prstGeom>
          <a:solidFill>
            <a:srgbClr val="0A1628"/>
          </a:solidFill>
          <a:ln/>
        </p:spPr>
      </p:sp>
      <p:sp>
        <p:nvSpPr>
          <p:cNvPr id="3" name="Shape 1">
            <a:extLst>
              <a:ext uri="{FF2B5EF4-FFF2-40B4-BE49-F238E27FC236}">
                <a16:creationId xmlns:a16="http://schemas.microsoft.com/office/drawing/2014/main" id="{189BAB6E-C2BA-AB05-5016-24F8F1917046}"/>
              </a:ext>
            </a:extLst>
          </p:cNvPr>
          <p:cNvSpPr/>
          <p:nvPr/>
        </p:nvSpPr>
        <p:spPr>
          <a:xfrm>
            <a:off x="0" y="914400"/>
            <a:ext cx="9144000" cy="54864"/>
          </a:xfrm>
          <a:prstGeom prst="rect">
            <a:avLst/>
          </a:prstGeom>
          <a:solidFill>
            <a:srgbClr val="00BFA6"/>
          </a:solidFill>
          <a:ln/>
        </p:spPr>
      </p:sp>
      <p:sp>
        <p:nvSpPr>
          <p:cNvPr id="4" name="Text 2">
            <a:extLst>
              <a:ext uri="{FF2B5EF4-FFF2-40B4-BE49-F238E27FC236}">
                <a16:creationId xmlns:a16="http://schemas.microsoft.com/office/drawing/2014/main" id="{CC26505D-7BEB-8FAE-030C-135DB7E13A89}"/>
              </a:ext>
            </a:extLst>
          </p:cNvPr>
          <p:cNvSpPr/>
          <p:nvPr/>
        </p:nvSpPr>
        <p:spPr>
          <a:xfrm>
            <a:off x="365760" y="137160"/>
            <a:ext cx="8229600" cy="640080"/>
          </a:xfrm>
          <a:prstGeom prst="rect">
            <a:avLst/>
          </a:prstGeom>
          <a:noFill/>
          <a:ln/>
        </p:spPr>
        <p:txBody>
          <a:bodyPr wrap="square" lIns="0" tIns="0" rIns="0" bIns="0" rtlCol="0" anchor="ctr"/>
          <a:lstStyle/>
          <a:p>
            <a:pPr marL="0" indent="0">
              <a:buNone/>
            </a:pPr>
            <a:r>
              <a:rPr lang="en-US" sz="2600" b="1" dirty="0">
                <a:solidFill>
                  <a:srgbClr val="FFFFFF"/>
                </a:solidFill>
              </a:rPr>
              <a:t>Conclusion</a:t>
            </a:r>
            <a:endParaRPr lang="en-US" sz="2600" dirty="0"/>
          </a:p>
        </p:txBody>
      </p:sp>
      <p:sp>
        <p:nvSpPr>
          <p:cNvPr id="7" name="Text 5">
            <a:extLst>
              <a:ext uri="{FF2B5EF4-FFF2-40B4-BE49-F238E27FC236}">
                <a16:creationId xmlns:a16="http://schemas.microsoft.com/office/drawing/2014/main" id="{B8A15922-84D1-679F-4A3C-3AE639FC3880}"/>
              </a:ext>
            </a:extLst>
          </p:cNvPr>
          <p:cNvSpPr/>
          <p:nvPr/>
        </p:nvSpPr>
        <p:spPr>
          <a:xfrm>
            <a:off x="365760" y="1124712"/>
            <a:ext cx="3383280" cy="274320"/>
          </a:xfrm>
          <a:prstGeom prst="rect">
            <a:avLst/>
          </a:prstGeom>
          <a:noFill/>
          <a:ln/>
        </p:spPr>
        <p:txBody>
          <a:bodyPr wrap="square" lIns="0" tIns="0" rIns="0" bIns="0" rtlCol="0" anchor="ctr"/>
          <a:lstStyle/>
          <a:p>
            <a:pPr marL="0" indent="0">
              <a:buNone/>
            </a:pPr>
            <a:endParaRPr lang="en-US" sz="1300" dirty="0"/>
          </a:p>
        </p:txBody>
      </p:sp>
      <p:sp>
        <p:nvSpPr>
          <p:cNvPr id="8" name="Text 6">
            <a:extLst>
              <a:ext uri="{FF2B5EF4-FFF2-40B4-BE49-F238E27FC236}">
                <a16:creationId xmlns:a16="http://schemas.microsoft.com/office/drawing/2014/main" id="{5E07D21B-AB41-9EA3-15CE-EAAC47AD2A56}"/>
              </a:ext>
            </a:extLst>
          </p:cNvPr>
          <p:cNvSpPr/>
          <p:nvPr/>
        </p:nvSpPr>
        <p:spPr>
          <a:xfrm flipH="1">
            <a:off x="7491046" y="4353951"/>
            <a:ext cx="1287194" cy="263768"/>
          </a:xfrm>
          <a:prstGeom prst="rect">
            <a:avLst/>
          </a:prstGeom>
          <a:noFill/>
          <a:ln/>
        </p:spPr>
        <p:txBody>
          <a:bodyPr wrap="square" rtlCol="0" anchor="ctr"/>
          <a:lstStyle/>
          <a:p>
            <a:pPr marL="342900" indent="-342900">
              <a:spcAft>
                <a:spcPts val="600"/>
              </a:spcAft>
              <a:buSzPct val="100000"/>
              <a:buChar char="•"/>
            </a:pPr>
            <a:endParaRPr lang="en-US" sz="1200" dirty="0"/>
          </a:p>
        </p:txBody>
      </p:sp>
      <p:sp>
        <p:nvSpPr>
          <p:cNvPr id="11" name="Text 9">
            <a:extLst>
              <a:ext uri="{FF2B5EF4-FFF2-40B4-BE49-F238E27FC236}">
                <a16:creationId xmlns:a16="http://schemas.microsoft.com/office/drawing/2014/main" id="{F350A2D2-2E35-09A7-3635-A021201C5C1F}"/>
              </a:ext>
            </a:extLst>
          </p:cNvPr>
          <p:cNvSpPr/>
          <p:nvPr/>
        </p:nvSpPr>
        <p:spPr>
          <a:xfrm>
            <a:off x="4206240" y="1124712"/>
            <a:ext cx="4572000" cy="274320"/>
          </a:xfrm>
          <a:prstGeom prst="rect">
            <a:avLst/>
          </a:prstGeom>
          <a:noFill/>
          <a:ln/>
        </p:spPr>
        <p:txBody>
          <a:bodyPr wrap="square" lIns="0" tIns="0" rIns="0" bIns="0" rtlCol="0" anchor="ctr"/>
          <a:lstStyle/>
          <a:p>
            <a:pPr marL="0" indent="0">
              <a:buNone/>
            </a:pPr>
            <a:endParaRPr lang="en-US" sz="1300" dirty="0"/>
          </a:p>
        </p:txBody>
      </p:sp>
      <p:sp>
        <p:nvSpPr>
          <p:cNvPr id="12" name="Text 10">
            <a:extLst>
              <a:ext uri="{FF2B5EF4-FFF2-40B4-BE49-F238E27FC236}">
                <a16:creationId xmlns:a16="http://schemas.microsoft.com/office/drawing/2014/main" id="{76F480D3-EDE1-549A-4BD3-EA516FCEB17A}"/>
              </a:ext>
            </a:extLst>
          </p:cNvPr>
          <p:cNvSpPr/>
          <p:nvPr/>
        </p:nvSpPr>
        <p:spPr>
          <a:xfrm>
            <a:off x="4206240" y="1536192"/>
            <a:ext cx="4572000" cy="3090672"/>
          </a:xfrm>
          <a:prstGeom prst="rect">
            <a:avLst/>
          </a:prstGeom>
          <a:noFill/>
          <a:ln/>
        </p:spPr>
        <p:txBody>
          <a:bodyPr wrap="square" lIns="0" tIns="0" rIns="0" bIns="0" rtlCol="0" anchor="t"/>
          <a:lstStyle/>
          <a:p>
            <a:pPr marL="0" indent="0">
              <a:buNone/>
            </a:pPr>
            <a:endParaRPr lang="en-US" sz="1100" dirty="0"/>
          </a:p>
        </p:txBody>
      </p:sp>
      <p:sp>
        <p:nvSpPr>
          <p:cNvPr id="13" name="TextBox 12">
            <a:extLst>
              <a:ext uri="{FF2B5EF4-FFF2-40B4-BE49-F238E27FC236}">
                <a16:creationId xmlns:a16="http://schemas.microsoft.com/office/drawing/2014/main" id="{6A4DCD73-1A6B-E836-B2EC-BEBF7DE5D910}"/>
              </a:ext>
            </a:extLst>
          </p:cNvPr>
          <p:cNvSpPr txBox="1"/>
          <p:nvPr/>
        </p:nvSpPr>
        <p:spPr>
          <a:xfrm>
            <a:off x="464234" y="1399032"/>
            <a:ext cx="8131126" cy="2308324"/>
          </a:xfrm>
          <a:prstGeom prst="rect">
            <a:avLst/>
          </a:prstGeom>
          <a:noFill/>
        </p:spPr>
        <p:txBody>
          <a:bodyPr wrap="square" rtlCol="0">
            <a:spAutoFit/>
          </a:bodyPr>
          <a:lstStyle/>
          <a:p>
            <a:r>
              <a:rPr lang="en-US" dirty="0"/>
              <a:t>The </a:t>
            </a:r>
            <a:r>
              <a:rPr lang="en-US" i="1" dirty="0"/>
              <a:t>Single Phase Power Monitor</a:t>
            </a:r>
            <a:r>
              <a:rPr lang="en-US" dirty="0"/>
              <a:t> project successfully demonstrates a low-cost and efficient system for real-time measurement of electrical parameters such as voltage, current, power, and energy. Using Arduino and sensors, the system provides accurate readings and helps users monitor electricity usage effectively. This project is useful for reducing energy wastage and improving power management. Overall, it is a simple, compact, and practical solution that can be further enhanced with advanced features like IoT-based remote monitoring.</a:t>
            </a:r>
          </a:p>
          <a:p>
            <a:endParaRPr lang="en-IN" dirty="0"/>
          </a:p>
        </p:txBody>
      </p:sp>
    </p:spTree>
    <p:extLst>
      <p:ext uri="{BB962C8B-B14F-4D97-AF65-F5344CB8AC3E}">
        <p14:creationId xmlns:p14="http://schemas.microsoft.com/office/powerpoint/2010/main" val="2069375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975</Words>
  <Application>Microsoft Office PowerPoint</Application>
  <PresentationFormat>On-screen Show (16:9)</PresentationFormat>
  <Paragraphs>195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Phase Power Monitor</dc:title>
  <dc:subject>PptxGenJS Presentation</dc:subject>
  <dc:creator>PptxGenJS</dc:creator>
  <cp:lastModifiedBy>Parth Kulkarni</cp:lastModifiedBy>
  <cp:revision>3</cp:revision>
  <dcterms:created xsi:type="dcterms:W3CDTF">2026-04-22T05:31:42Z</dcterms:created>
  <dcterms:modified xsi:type="dcterms:W3CDTF">2026-04-22T11:57:48Z</dcterms:modified>
</cp:coreProperties>
</file>